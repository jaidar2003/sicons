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00" r:id="rId2"/>
    <p:sldId id="266" r:id="rId3"/>
    <p:sldId id="256" r:id="rId4"/>
    <p:sldId id="259" r:id="rId5"/>
    <p:sldId id="257" r:id="rId6"/>
    <p:sldId id="258" r:id="rId7"/>
    <p:sldId id="260" r:id="rId8"/>
    <p:sldId id="501" r:id="rId9"/>
    <p:sldId id="261" r:id="rId10"/>
    <p:sldId id="502" r:id="rId11"/>
    <p:sldId id="503" r:id="rId12"/>
    <p:sldId id="262" r:id="rId13"/>
    <p:sldId id="263" r:id="rId14"/>
    <p:sldId id="504" r:id="rId15"/>
    <p:sldId id="264" r:id="rId16"/>
    <p:sldId id="265" r:id="rId17"/>
    <p:sldId id="505" r:id="rId18"/>
    <p:sldId id="506" r:id="rId1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7" autoAdjust="0"/>
    <p:restoredTop sz="94660"/>
  </p:normalViewPr>
  <p:slideViewPr>
    <p:cSldViewPr snapToGrid="0">
      <p:cViewPr>
        <p:scale>
          <a:sx n="70" d="100"/>
          <a:sy n="70" d="100"/>
        </p:scale>
        <p:origin x="68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83920-C720-3469-893B-53B1C760C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E26C9A-D8F0-C8DE-83AC-DAA1E2D62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BD77F9-AC2A-82F1-1C14-C6551E5BD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3948-7B6F-42D7-80C6-85F433E45978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E49218-CD04-815D-4CEB-CE36F5E86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FCC68C-E294-87B2-6A74-A973F2857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E9108-B4B3-487F-8EDD-DC8BA4B3978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1576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F652E-C5CD-8D77-47F5-5AEA20DCA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4BF7AE-344C-C019-E2D9-EEEEF77D8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20ABE2-F976-DA9A-B72F-019122615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3948-7B6F-42D7-80C6-85F433E45978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331199-D14E-831A-60E9-1D3C5675F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D24F49-3925-CC15-6BA4-1308ECC89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E9108-B4B3-487F-8EDD-DC8BA4B3978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65731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C843A-E84E-F72B-DBA7-E75DD69F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955B0E-014A-1A8F-C844-17891C374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F05AC6-5E33-D078-74A0-6738FB725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3948-7B6F-42D7-80C6-85F433E45978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963710-4F6B-18FB-5EDD-22DA8B0E6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AF1957-1513-45F7-2368-E3957D70B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E9108-B4B3-487F-8EDD-DC8BA4B3978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3525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BB8543-FADA-AFBC-D6DF-06C3884DB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332DCB-3731-695F-74EB-34655DD87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3AFBAF-323D-9528-1866-A2B96F7B7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BD2CA0-0040-52F9-22BA-47411A341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3948-7B6F-42D7-80C6-85F433E45978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FDABA9-6F54-3753-AFCB-B188B101F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769C28-F565-3FC9-01FD-F9B4E3BD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E9108-B4B3-487F-8EDD-DC8BA4B3978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6950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55A5FB-3337-AC2B-CB19-829C8B2B1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F9EF3A-F155-34BD-F7E1-B04258DA3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FAF299-486B-8BF0-F06D-F477AC955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8514CE-A52A-E6DC-5E9F-FCEB241B45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6D01D53-4405-245B-D7E2-87072DA0DD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D7FBE2-C059-1008-FFD5-016D5381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3948-7B6F-42D7-80C6-85F433E45978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48F71BE-0234-6A99-3377-AFC225515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E7EE0B5-058D-37CF-9133-DC1AC92F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E9108-B4B3-487F-8EDD-DC8BA4B3978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4577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EE583-518B-0E7C-8B93-E0E24A749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E424C5-76CD-F667-C616-5C2F8530A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3948-7B6F-42D7-80C6-85F433E45978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F09886-832D-ECE9-F323-1617A2326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1A7AB1-8271-B095-B198-B145692E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E9108-B4B3-487F-8EDD-DC8BA4B3978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2467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2FDFCA4-6CD8-4120-C6C6-E748166FD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3948-7B6F-42D7-80C6-85F433E45978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263A28E-1B8A-8016-3A6F-6E2DF9E62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3D37CE-15CF-643C-455A-814B4F2C9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E9108-B4B3-487F-8EDD-DC8BA4B3978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27983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37D17C-FAD6-BD5C-1EA9-410429963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E35164-7EE7-3FF6-FD2E-200E955EF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1C6DCA-0BCA-E33C-E19E-31BCBB180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1DF070-7F6D-E08D-29E0-8EEF03D91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3948-7B6F-42D7-80C6-85F433E45978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375849-BEA8-DFD6-2281-07CEC8CB6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1D0477-7C2F-7943-E82A-67B7C5839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E9108-B4B3-487F-8EDD-DC8BA4B3978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16861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4AD87-5E44-15EA-FF1A-8FC0422A0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0E66A36-8AF2-AEE1-5714-1F9D03730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1117F5-C2BC-5FCD-C87C-4B198D82D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5D0B49-3A31-FB59-C82B-CCC2D1E12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3948-7B6F-42D7-80C6-85F433E45978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EAE659-FC77-1E56-3AFA-F41440E5A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5CCCE5-3C4E-BD27-0414-7D3F58C17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E9108-B4B3-487F-8EDD-DC8BA4B3978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23839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A072A-C8E6-0A46-5F9F-5F8D4F88E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2BB968-CB44-FC29-BE8E-666D7762A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ED19D5-7BEB-C22E-CA27-469763CCC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3948-7B6F-42D7-80C6-85F433E45978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A6E583-5E81-9972-D92D-4718F81F7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C658CD-A91A-8FBF-330B-E392E9F78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E9108-B4B3-487F-8EDD-DC8BA4B3978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42932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F49156F-4B03-DB8D-A30E-BB10319D2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31B395-3A1A-FB15-C472-7D88F8641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B9D3B0-20A6-F176-B6FB-FE4DEF5E7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3948-7B6F-42D7-80C6-85F433E45978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53655E-9C1C-7565-98AF-5CED0CFC9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53F1BB-0DBF-D20C-3758-C9685A163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E9108-B4B3-487F-8EDD-DC8BA4B3978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0435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B97E55E-5578-DAB5-57BE-92D35291E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FE555C-A44E-5FDC-4E70-88AE3CF79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32CB80-36EB-A28A-957F-E0795C121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E33948-7B6F-42D7-80C6-85F433E45978}" type="datetimeFigureOut">
              <a:rPr lang="es-AR" smtClean="0"/>
              <a:t>18/5/2026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9AA7ED-758E-04C2-8358-8682CEFFA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C405B9-3B58-1AFC-23D9-A7590B57DA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E9108-B4B3-487F-8EDD-DC8BA4B3978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7200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10" descr="MUSEOS VATICANOS. EL VATICANO. ROMA, ITALIA - P2 - Roma en fotos. Guía de  Viaje de Roma y Vaticano. Italia. Más de 1500 imágenes de Roma.">
            <a:extLst>
              <a:ext uri="{FF2B5EF4-FFF2-40B4-BE49-F238E27FC236}">
                <a16:creationId xmlns:a16="http://schemas.microsoft.com/office/drawing/2014/main" id="{BD376D0D-7834-5100-34EA-A37A93B53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1" y="554038"/>
            <a:ext cx="7254875" cy="482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6 Rectángulo">
            <a:extLst>
              <a:ext uri="{FF2B5EF4-FFF2-40B4-BE49-F238E27FC236}">
                <a16:creationId xmlns:a16="http://schemas.microsoft.com/office/drawing/2014/main" id="{9724BE3C-AAB9-CF15-ADDF-AB1657A61273}"/>
              </a:ext>
            </a:extLst>
          </p:cNvPr>
          <p:cNvSpPr/>
          <p:nvPr/>
        </p:nvSpPr>
        <p:spPr bwMode="auto">
          <a:xfrm>
            <a:off x="4810126" y="3806825"/>
            <a:ext cx="5508625" cy="17399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endParaRPr lang="es-ES_tradnl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91BF761-1A2B-C531-E394-01E282098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12224" y="692697"/>
            <a:ext cx="1584176" cy="1646858"/>
          </a:xfrm>
          <a:prstGeom prst="rect">
            <a:avLst/>
          </a:prstGeom>
          <a:ln w="88900" cap="sq" cmpd="thickThin">
            <a:solidFill>
              <a:srgbClr val="FFC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4341" name="7 CuadroTexto">
            <a:extLst>
              <a:ext uri="{FF2B5EF4-FFF2-40B4-BE49-F238E27FC236}">
                <a16:creationId xmlns:a16="http://schemas.microsoft.com/office/drawing/2014/main" id="{19B9C0F0-1424-FA70-32C9-33DAF16F4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0939" y="2482850"/>
            <a:ext cx="28082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_tradnl" altLang="es-AR" sz="1800">
                <a:solidFill>
                  <a:schemeClr val="bg1"/>
                </a:solidFill>
                <a:latin typeface="Book Antiqua" panose="02040602050305030304" pitchFamily="18" charset="0"/>
              </a:rPr>
              <a:t>Facultad de Ingeniería</a:t>
            </a:r>
          </a:p>
        </p:txBody>
      </p:sp>
      <p:sp>
        <p:nvSpPr>
          <p:cNvPr id="14342" name="9 CuadroTexto">
            <a:extLst>
              <a:ext uri="{FF2B5EF4-FFF2-40B4-BE49-F238E27FC236}">
                <a16:creationId xmlns:a16="http://schemas.microsoft.com/office/drawing/2014/main" id="{3F47F93B-0464-FC98-59BA-24CEB182B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5921376"/>
            <a:ext cx="33845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_tradnl" altLang="es-AR" sz="1600">
                <a:latin typeface="Book Antiqua" panose="02040602050305030304" pitchFamily="18" charset="0"/>
              </a:rPr>
              <a:t>Mag. Ing. Diego Navarro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s-ES_tradnl" altLang="es-AR" sz="1600">
                <a:latin typeface="Book Antiqua" panose="02040602050305030304" pitchFamily="18" charset="0"/>
              </a:rPr>
              <a:t>Prof. Dra. Ruth Leiton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ES_tradnl" altLang="es-AR" sz="1600">
              <a:latin typeface="Book Antiqua" panose="02040602050305030304" pitchFamily="18" charset="0"/>
            </a:endParaRPr>
          </a:p>
        </p:txBody>
      </p:sp>
      <p:sp>
        <p:nvSpPr>
          <p:cNvPr id="9" name="9 CuadroTexto">
            <a:extLst>
              <a:ext uri="{FF2B5EF4-FFF2-40B4-BE49-F238E27FC236}">
                <a16:creationId xmlns:a16="http://schemas.microsoft.com/office/drawing/2014/main" id="{FD83164C-10D6-C79A-9FEA-5B610C5B431B}"/>
              </a:ext>
            </a:extLst>
          </p:cNvPr>
          <p:cNvSpPr txBox="1"/>
          <p:nvPr/>
        </p:nvSpPr>
        <p:spPr bwMode="auto">
          <a:xfrm>
            <a:off x="4192589" y="3849689"/>
            <a:ext cx="6048375" cy="107721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ES_tradnl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-Cátedra de Trabajo Final-</a:t>
            </a:r>
          </a:p>
          <a:p>
            <a:pPr algn="r">
              <a:defRPr/>
            </a:pPr>
            <a:r>
              <a:rPr lang="es-ES_tradnl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TIF  3</a:t>
            </a:r>
            <a:endParaRPr lang="es-ES_tradnl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6B8F130-E73B-AAA7-AEE5-5D75254DE7B1}"/>
              </a:ext>
            </a:extLst>
          </p:cNvPr>
          <p:cNvSpPr txBox="1"/>
          <p:nvPr/>
        </p:nvSpPr>
        <p:spPr>
          <a:xfrm>
            <a:off x="6523629" y="4995451"/>
            <a:ext cx="293972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600" dirty="0">
                <a:solidFill>
                  <a:schemeClr val="bg1"/>
                </a:solidFill>
              </a:rPr>
              <a:t>La Metodología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0DC30BA-157D-CD7A-0579-AADB9FB46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533798"/>
              </p:ext>
            </p:extLst>
          </p:nvPr>
        </p:nvGraphicFramePr>
        <p:xfrm>
          <a:off x="905302" y="540502"/>
          <a:ext cx="10645254" cy="500048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524836">
                  <a:extLst>
                    <a:ext uri="{9D8B030D-6E8A-4147-A177-3AD203B41FA5}">
                      <a16:colId xmlns:a16="http://schemas.microsoft.com/office/drawing/2014/main" val="788156588"/>
                    </a:ext>
                  </a:extLst>
                </a:gridCol>
                <a:gridCol w="3562066">
                  <a:extLst>
                    <a:ext uri="{9D8B030D-6E8A-4147-A177-3AD203B41FA5}">
                      <a16:colId xmlns:a16="http://schemas.microsoft.com/office/drawing/2014/main" val="1419970836"/>
                    </a:ext>
                  </a:extLst>
                </a:gridCol>
                <a:gridCol w="4558352">
                  <a:extLst>
                    <a:ext uri="{9D8B030D-6E8A-4147-A177-3AD203B41FA5}">
                      <a16:colId xmlns:a16="http://schemas.microsoft.com/office/drawing/2014/main" val="3970347921"/>
                    </a:ext>
                  </a:extLst>
                </a:gridCol>
              </a:tblGrid>
              <a:tr h="158811"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400" b="1" dirty="0">
                          <a:effectLst/>
                          <a:latin typeface="Book Antiqua" panose="02040602050305030304" pitchFamily="18" charset="0"/>
                        </a:rPr>
                        <a:t>LAS PARTES DEL TFI o TFG</a:t>
                      </a:r>
                      <a:endParaRPr lang="es-AR" sz="2400" b="1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259655"/>
                  </a:ext>
                </a:extLst>
              </a:tr>
              <a:tr h="406174">
                <a:tc row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0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  <a:t>Parte 1: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0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  <a:t>Marco Teórico</a:t>
                      </a:r>
                      <a:endParaRPr lang="es-AR" sz="1800" b="0" dirty="0">
                        <a:solidFill>
                          <a:srgbClr val="C00000"/>
                        </a:solidFill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  <a:t> </a:t>
                      </a:r>
                      <a:r>
                        <a:rPr lang="es-AR" sz="1800" b="1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  <a:t> Capítulo 1: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  <a:t>Marco Referencial</a:t>
                      </a:r>
                      <a:endParaRPr lang="es-AR" sz="1800" b="1" dirty="0">
                        <a:solidFill>
                          <a:srgbClr val="C00000"/>
                        </a:solidFill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  <a:t>Sección 1: </a:t>
                      </a: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Identificación del problema.</a:t>
                      </a:r>
                      <a:endParaRPr lang="es-AR" sz="18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715458"/>
                  </a:ext>
                </a:extLst>
              </a:tr>
              <a:tr h="419624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  <a:t>Sección 2: </a:t>
                      </a: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Justificación del problema.</a:t>
                      </a:r>
                      <a:endParaRPr lang="es-AR" sz="18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050937"/>
                  </a:ext>
                </a:extLst>
              </a:tr>
              <a:tr h="338773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  <a:t>Sección 3: </a:t>
                      </a: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Estado del arte </a:t>
                      </a:r>
                    </a:p>
                  </a:txBody>
                  <a:tcPr marL="58102" marR="58102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22283"/>
                  </a:ext>
                </a:extLst>
              </a:tr>
              <a:tr h="338773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b="1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  <a:t>Sección 4: </a:t>
                      </a: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Objetivos</a:t>
                      </a:r>
                      <a:endParaRPr lang="es-AR" sz="18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775494"/>
                  </a:ext>
                </a:extLst>
              </a:tr>
              <a:tr h="576983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AR" sz="1800" dirty="0">
                          <a:solidFill>
                            <a:srgbClr val="002060"/>
                          </a:solidFill>
                          <a:effectLst/>
                          <a:latin typeface="Book Antiqua" panose="02040602050305030304" pitchFamily="18" charset="0"/>
                        </a:rPr>
                        <a:t> </a:t>
                      </a:r>
                      <a:r>
                        <a:rPr lang="es-AR" sz="1800" b="1" dirty="0">
                          <a:solidFill>
                            <a:srgbClr val="002060"/>
                          </a:solidFill>
                          <a:effectLst/>
                          <a:latin typeface="Book Antiqua" panose="02040602050305030304" pitchFamily="18" charset="0"/>
                        </a:rPr>
                        <a:t> Capítulo 2: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dirty="0">
                          <a:solidFill>
                            <a:srgbClr val="002060"/>
                          </a:solidFill>
                          <a:effectLst/>
                          <a:latin typeface="Book Antiqua" panose="02040602050305030304" pitchFamily="18" charset="0"/>
                        </a:rPr>
                        <a:t>Marco Conceptual</a:t>
                      </a:r>
                      <a:endParaRPr lang="es-AR" sz="1800" b="1" dirty="0">
                        <a:solidFill>
                          <a:srgbClr val="002060"/>
                        </a:solidFill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dirty="0">
                          <a:solidFill>
                            <a:srgbClr val="002060"/>
                          </a:solidFill>
                          <a:effectLst/>
                          <a:latin typeface="Book Antiqua" panose="02040602050305030304" pitchFamily="18" charset="0"/>
                        </a:rPr>
                        <a:t>Sección 1: </a:t>
                      </a: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Marco tecnológico ingenieril</a:t>
                      </a:r>
                      <a:endParaRPr lang="es-AR" sz="18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732727"/>
                  </a:ext>
                </a:extLst>
              </a:tr>
              <a:tr h="490637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dirty="0">
                          <a:solidFill>
                            <a:srgbClr val="002060"/>
                          </a:solidFill>
                          <a:effectLst/>
                          <a:latin typeface="Book Antiqua" panose="02040602050305030304" pitchFamily="18" charset="0"/>
                        </a:rPr>
                        <a:t>Sección 2: </a:t>
                      </a: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Marco interdisciplinario</a:t>
                      </a:r>
                      <a:endParaRPr lang="es-AR" sz="18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616989"/>
                  </a:ext>
                </a:extLst>
              </a:tr>
              <a:tr h="490906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dirty="0">
                          <a:solidFill>
                            <a:srgbClr val="7030A0"/>
                          </a:solidFill>
                          <a:effectLst/>
                          <a:latin typeface="Book Antiqua" panose="02040602050305030304" pitchFamily="18" charset="0"/>
                        </a:rPr>
                        <a:t>Parte 2: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dirty="0">
                          <a:solidFill>
                            <a:srgbClr val="7030A0"/>
                          </a:solidFill>
                          <a:effectLst/>
                          <a:latin typeface="Book Antiqua" panose="02040602050305030304" pitchFamily="18" charset="0"/>
                        </a:rPr>
                        <a:t>Marco Metodológico</a:t>
                      </a:r>
                    </a:p>
                  </a:txBody>
                  <a:tcPr marL="58102" marR="58102" marT="0" marB="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dirty="0">
                          <a:solidFill>
                            <a:srgbClr val="7030A0"/>
                          </a:solidFill>
                          <a:effectLst/>
                          <a:latin typeface="Book Antiqua" panose="02040602050305030304" pitchFamily="18" charset="0"/>
                        </a:rPr>
                        <a:t>Capítulo 1: </a:t>
                      </a: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Desarrollo de ingeniería</a:t>
                      </a:r>
                      <a:endParaRPr lang="es-AR" sz="18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Retomar y revisar Metodología presentada en TIF-3</a:t>
                      </a:r>
                      <a:endParaRPr lang="es-AR" sz="18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971897"/>
                  </a:ext>
                </a:extLst>
              </a:tr>
              <a:tr h="482567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dirty="0">
                          <a:solidFill>
                            <a:srgbClr val="7030A0"/>
                          </a:solidFill>
                          <a:effectLst/>
                          <a:latin typeface="Book Antiqua" panose="02040602050305030304" pitchFamily="18" charset="0"/>
                        </a:rPr>
                        <a:t>Capítulo 2: </a:t>
                      </a: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Análisis de Resultados</a:t>
                      </a:r>
                      <a:endParaRPr lang="es-AR" sz="18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Retomar cómo se analizan los resultados</a:t>
                      </a:r>
                      <a:endParaRPr lang="es-AR" sz="18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99859"/>
                  </a:ext>
                </a:extLst>
              </a:tr>
              <a:tr h="159296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dirty="0">
                          <a:solidFill>
                            <a:srgbClr val="00B050"/>
                          </a:solidFill>
                          <a:effectLst/>
                          <a:latin typeface="Book Antiqua" panose="02040602050305030304" pitchFamily="18" charset="0"/>
                        </a:rPr>
                        <a:t> Elementos finales</a:t>
                      </a:r>
                      <a:endParaRPr lang="es-AR" sz="1800" b="1" dirty="0">
                        <a:solidFill>
                          <a:srgbClr val="00B050"/>
                        </a:solidFill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Conclusiones</a:t>
                      </a:r>
                      <a:endParaRPr lang="es-AR" sz="18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>
                    <a:solidFill>
                      <a:srgbClr val="FFCC9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 </a:t>
                      </a:r>
                      <a:endParaRPr lang="es-AR" sz="18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583332"/>
                  </a:ext>
                </a:extLst>
              </a:tr>
              <a:tr h="165698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Anexos</a:t>
                      </a:r>
                      <a:endParaRPr lang="es-AR" sz="18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>
                    <a:solidFill>
                      <a:srgbClr val="FFCC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458306"/>
                  </a:ext>
                </a:extLst>
              </a:tr>
              <a:tr h="337581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dirty="0">
                          <a:effectLst/>
                          <a:latin typeface="Book Antiqua" panose="02040602050305030304" pitchFamily="18" charset="0"/>
                        </a:rPr>
                        <a:t>Fuentes Bibliográficas</a:t>
                      </a:r>
                      <a:endParaRPr lang="es-AR" sz="1800" dirty="0"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102" marR="58102" marT="0" marB="0">
                    <a:solidFill>
                      <a:srgbClr val="FFCC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345477"/>
                  </a:ext>
                </a:extLst>
              </a:tr>
            </a:tbl>
          </a:graphicData>
        </a:graphic>
      </p:graphicFrame>
      <p:sp>
        <p:nvSpPr>
          <p:cNvPr id="10" name="Flecha: curvada hacia la derecha 9">
            <a:extLst>
              <a:ext uri="{FF2B5EF4-FFF2-40B4-BE49-F238E27FC236}">
                <a16:creationId xmlns:a16="http://schemas.microsoft.com/office/drawing/2014/main" id="{38306353-BA54-AA75-4C4D-A6BE5FF2F2BA}"/>
              </a:ext>
            </a:extLst>
          </p:cNvPr>
          <p:cNvSpPr/>
          <p:nvPr/>
        </p:nvSpPr>
        <p:spPr>
          <a:xfrm>
            <a:off x="95534" y="4121622"/>
            <a:ext cx="809768" cy="2292826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E93A9BD-D979-81CD-CE83-A6D78BA31180}"/>
              </a:ext>
            </a:extLst>
          </p:cNvPr>
          <p:cNvSpPr txBox="1"/>
          <p:nvPr/>
        </p:nvSpPr>
        <p:spPr>
          <a:xfrm>
            <a:off x="1050878" y="5786651"/>
            <a:ext cx="76836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600" b="1" dirty="0">
                <a:latin typeface="Book Antiqua" panose="02040602050305030304" pitchFamily="18" charset="0"/>
              </a:rPr>
              <a:t>Desarrollo de Ingeniería y Análisis de Resultados</a:t>
            </a:r>
          </a:p>
        </p:txBody>
      </p:sp>
    </p:spTree>
    <p:extLst>
      <p:ext uri="{BB962C8B-B14F-4D97-AF65-F5344CB8AC3E}">
        <p14:creationId xmlns:p14="http://schemas.microsoft.com/office/powerpoint/2010/main" val="3012946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E23DAC4-7D36-60A9-78A7-E32B43223F41}"/>
              </a:ext>
            </a:extLst>
          </p:cNvPr>
          <p:cNvSpPr txBox="1"/>
          <p:nvPr/>
        </p:nvSpPr>
        <p:spPr>
          <a:xfrm>
            <a:off x="2109688" y="2052304"/>
            <a:ext cx="8344497" cy="19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37590" algn="r">
              <a:lnSpc>
                <a:spcPct val="107000"/>
              </a:lnSpc>
              <a:spcAft>
                <a:spcPts val="400"/>
              </a:spcAft>
            </a:pPr>
            <a:r>
              <a:rPr lang="es-AR" sz="2600" b="1" kern="100" dirty="0">
                <a:solidFill>
                  <a:srgbClr val="3A3A3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Guía para la elaboración del </a:t>
            </a:r>
            <a:endParaRPr lang="es-AR" sz="26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74065" marR="817880" algn="r">
              <a:lnSpc>
                <a:spcPct val="122000"/>
              </a:lnSpc>
              <a:spcAft>
                <a:spcPts val="800"/>
              </a:spcAft>
            </a:pPr>
            <a:r>
              <a:rPr lang="es-AR" sz="2600" b="1" kern="100" dirty="0">
                <a:solidFill>
                  <a:srgbClr val="196B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Marco Metodológico  </a:t>
            </a:r>
          </a:p>
          <a:p>
            <a:pPr marL="774065" marR="817880" algn="r">
              <a:lnSpc>
                <a:spcPct val="122000"/>
              </a:lnSpc>
              <a:spcAft>
                <a:spcPts val="800"/>
              </a:spcAft>
            </a:pPr>
            <a:r>
              <a:rPr lang="es-AR" sz="2600" b="1" kern="100" dirty="0">
                <a:solidFill>
                  <a:srgbClr val="196B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del Trabajo Integrador Final (TIF) </a:t>
            </a:r>
          </a:p>
          <a:p>
            <a:pPr marL="774065" marR="817880" algn="r">
              <a:lnSpc>
                <a:spcPct val="122000"/>
              </a:lnSpc>
              <a:spcAft>
                <a:spcPts val="800"/>
              </a:spcAft>
            </a:pPr>
            <a:r>
              <a:rPr lang="es-AR" sz="1400" b="1" kern="100" dirty="0">
                <a:solidFill>
                  <a:srgbClr val="196B24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(a partir del documento elaborado por la </a:t>
            </a:r>
            <a:r>
              <a:rPr lang="es-AR" sz="1400" b="1" kern="100" dirty="0" err="1">
                <a:solidFill>
                  <a:srgbClr val="196B24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Mag</a:t>
            </a:r>
            <a:r>
              <a:rPr lang="es-AR" sz="1400" b="1" kern="100" dirty="0">
                <a:solidFill>
                  <a:srgbClr val="196B24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 Lic. María Marta Arrieta Guevara)</a:t>
            </a:r>
            <a:endParaRPr lang="es-AR" sz="14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E37A6CF-623B-0812-F90F-C63AE535ED3E}"/>
              </a:ext>
            </a:extLst>
          </p:cNvPr>
          <p:cNvSpPr txBox="1"/>
          <p:nvPr/>
        </p:nvSpPr>
        <p:spPr>
          <a:xfrm>
            <a:off x="450376" y="395786"/>
            <a:ext cx="76836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600" b="1" dirty="0">
                <a:solidFill>
                  <a:srgbClr val="0070C0"/>
                </a:solidFill>
                <a:latin typeface="Book Antiqua" panose="02040602050305030304" pitchFamily="18" charset="0"/>
              </a:rPr>
              <a:t>Desarrollo de Ingeniería y Análisis de Resultados</a:t>
            </a:r>
          </a:p>
        </p:txBody>
      </p:sp>
    </p:spTree>
    <p:extLst>
      <p:ext uri="{BB962C8B-B14F-4D97-AF65-F5344CB8AC3E}">
        <p14:creationId xmlns:p14="http://schemas.microsoft.com/office/powerpoint/2010/main" val="674123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7309E40-975B-8C2A-3CBF-DEDDE0D1CF33}"/>
              </a:ext>
            </a:extLst>
          </p:cNvPr>
          <p:cNvSpPr txBox="1"/>
          <p:nvPr/>
        </p:nvSpPr>
        <p:spPr>
          <a:xfrm>
            <a:off x="1061769" y="2422995"/>
            <a:ext cx="10068462" cy="338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0355">
              <a:lnSpc>
                <a:spcPct val="107000"/>
              </a:lnSpc>
              <a:spcAft>
                <a:spcPts val="415"/>
              </a:spcAft>
            </a:pPr>
            <a:r>
              <a:rPr lang="es-AR" sz="2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</a:p>
          <a:p>
            <a:pPr marL="342900" lvl="0" indent="-342900" algn="just" fontAlgn="base">
              <a:lnSpc>
                <a:spcPct val="115000"/>
              </a:lnSpc>
              <a:spcAft>
                <a:spcPts val="240"/>
              </a:spcAft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s-AR" sz="2000" b="1" u="none" strike="noStrike" kern="100" dirty="0">
                <a:solidFill>
                  <a:srgbClr val="1A6B3A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¿Qué estoy construyendo/desarrollando?</a:t>
            </a:r>
            <a:r>
              <a:rPr lang="es-AR" sz="20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aplicación, plataforma, modelo de IA, otro.</a:t>
            </a:r>
            <a:r>
              <a:rPr lang="es-AR" sz="20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 algn="just" fontAlgn="base">
              <a:lnSpc>
                <a:spcPct val="115000"/>
              </a:lnSpc>
              <a:spcAft>
                <a:spcPts val="250"/>
              </a:spcAft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s-AR" sz="2000" b="1" u="none" strike="noStrike" kern="100" dirty="0">
                <a:solidFill>
                  <a:srgbClr val="1A6B3A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¿Qué metodología(s) de desarrollo he adoptado?</a:t>
            </a:r>
            <a:r>
              <a:rPr lang="es-AR" sz="20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una sola; si es mixta, justificar la combinación explícitamente.</a:t>
            </a:r>
            <a:r>
              <a:rPr lang="es-AR" sz="20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 algn="just" fontAlgn="base">
              <a:lnSpc>
                <a:spcPct val="114000"/>
              </a:lnSpc>
              <a:spcAft>
                <a:spcPts val="265"/>
              </a:spcAft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s-AR" sz="2000" b="1" u="none" strike="noStrike" kern="100" dirty="0">
                <a:solidFill>
                  <a:srgbClr val="1A6B3A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¿Cuál es el criterio de éxito de mi MVP?</a:t>
            </a:r>
            <a:r>
              <a:rPr lang="es-AR" sz="20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la métrica o condición concreta que define que el proyecto 'funcionó'.</a:t>
            </a:r>
            <a:r>
              <a:rPr lang="es-AR" sz="20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 algn="just" fontAlgn="base">
              <a:lnSpc>
                <a:spcPct val="115000"/>
              </a:lnSpc>
              <a:spcAft>
                <a:spcPts val="240"/>
              </a:spcAft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s-AR" sz="2000" b="1" u="none" strike="noStrike" kern="100" dirty="0">
                <a:solidFill>
                  <a:srgbClr val="1A6B3A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¿Quién es el usuario o destinatario?</a:t>
            </a:r>
            <a:r>
              <a:rPr lang="es-AR" sz="20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aunque sea potencial o hipotético; es quien valida la utilidad del producto.</a:t>
            </a:r>
            <a:r>
              <a:rPr lang="es-AR" sz="20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 algn="just" fontAlgn="base">
              <a:lnSpc>
                <a:spcPct val="107000"/>
              </a:lnSpc>
              <a:spcAft>
                <a:spcPts val="420"/>
              </a:spcAft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s-AR" sz="2000" b="1" u="none" strike="noStrike" kern="100" dirty="0">
                <a:solidFill>
                  <a:srgbClr val="1A6B3A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¿Qué va a resolver este proyecto?</a:t>
            </a:r>
            <a:r>
              <a:rPr lang="es-AR" sz="20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s-AR" sz="20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81FA4B-AC4F-ED6D-100F-0BF95F54FAD7}"/>
              </a:ext>
            </a:extLst>
          </p:cNvPr>
          <p:cNvSpPr txBox="1"/>
          <p:nvPr/>
        </p:nvSpPr>
        <p:spPr>
          <a:xfrm>
            <a:off x="1240775" y="565179"/>
            <a:ext cx="46687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600" b="1" dirty="0">
                <a:solidFill>
                  <a:srgbClr val="0070C0"/>
                </a:solidFill>
                <a:latin typeface="Book Antiqua" panose="02040602050305030304" pitchFamily="18" charset="0"/>
              </a:rPr>
              <a:t>ARRANQUE RÁPIDO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3E6C8D9-4DC5-767A-3E19-043A3D46FE8B}"/>
              </a:ext>
            </a:extLst>
          </p:cNvPr>
          <p:cNvSpPr txBox="1"/>
          <p:nvPr/>
        </p:nvSpPr>
        <p:spPr>
          <a:xfrm>
            <a:off x="1240774" y="1802066"/>
            <a:ext cx="81215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600" dirty="0">
                <a:latin typeface="Book Antiqua" panose="02040602050305030304" pitchFamily="18" charset="0"/>
              </a:rPr>
              <a:t>Las preguntas claves antes de empezar</a:t>
            </a:r>
          </a:p>
        </p:txBody>
      </p:sp>
    </p:spTree>
    <p:extLst>
      <p:ext uri="{BB962C8B-B14F-4D97-AF65-F5344CB8AC3E}">
        <p14:creationId xmlns:p14="http://schemas.microsoft.com/office/powerpoint/2010/main" val="1064613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666C9F4-4339-F56B-AEE0-29722683356B}"/>
              </a:ext>
            </a:extLst>
          </p:cNvPr>
          <p:cNvSpPr txBox="1"/>
          <p:nvPr/>
        </p:nvSpPr>
        <p:spPr>
          <a:xfrm>
            <a:off x="660606" y="1780172"/>
            <a:ext cx="10748921" cy="347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425" marR="29845" indent="-234950" algn="ctr">
              <a:lnSpc>
                <a:spcPct val="114000"/>
              </a:lnSpc>
              <a:spcAft>
                <a:spcPts val="395"/>
              </a:spcAft>
            </a:pPr>
            <a:r>
              <a:rPr lang="es-AR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marco metodológico es el corazón procedimental del TFI</a:t>
            </a:r>
            <a:r>
              <a:rPr lang="es-AR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225425" marR="29845" indent="-234950" algn="just">
              <a:lnSpc>
                <a:spcPct val="114000"/>
              </a:lnSpc>
              <a:spcAft>
                <a:spcPts val="395"/>
              </a:spcAft>
            </a:pPr>
            <a:r>
              <a:rPr lang="es-AR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es un listado de pasos</a:t>
            </a:r>
          </a:p>
          <a:p>
            <a:pPr marL="225425" marR="29845" indent="-234950" algn="just">
              <a:lnSpc>
                <a:spcPct val="114000"/>
              </a:lnSpc>
              <a:spcAft>
                <a:spcPts val="395"/>
              </a:spcAft>
            </a:pPr>
            <a:r>
              <a:rPr lang="es-AR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es un conjunto de  «historias de usuarios»</a:t>
            </a:r>
          </a:p>
          <a:p>
            <a:pPr marL="225425" marR="29845" indent="-234950" algn="just">
              <a:lnSpc>
                <a:spcPct val="114000"/>
              </a:lnSpc>
              <a:spcAft>
                <a:spcPts val="395"/>
              </a:spcAft>
            </a:pPr>
            <a:r>
              <a:rPr lang="es-AR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es </a:t>
            </a:r>
            <a:r>
              <a:rPr lang="es-AR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una sección vacía de sentido: </a:t>
            </a:r>
          </a:p>
          <a:p>
            <a:pPr marL="225425" marR="29845" indent="-234950" algn="just">
              <a:lnSpc>
                <a:spcPct val="114000"/>
              </a:lnSpc>
              <a:spcAft>
                <a:spcPts val="395"/>
              </a:spcAft>
            </a:pPr>
            <a:endParaRPr lang="es-AR" sz="24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25425" marR="29845" indent="-234950" algn="ctr">
              <a:lnSpc>
                <a:spcPct val="114000"/>
              </a:lnSpc>
              <a:spcAft>
                <a:spcPts val="395"/>
              </a:spcAft>
            </a:pPr>
            <a:r>
              <a:rPr lang="es-AR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 la </a:t>
            </a:r>
            <a:r>
              <a:rPr lang="es-AR" sz="3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demostración</a:t>
            </a:r>
            <a:r>
              <a:rPr lang="es-AR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que el estudiante-TIF nivel 3 tomó decisiones fundamentadas sobre cómo abordar el problema. 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7BC5FF-22B3-CC91-698A-B2F2F8403737}"/>
              </a:ext>
            </a:extLst>
          </p:cNvPr>
          <p:cNvSpPr txBox="1"/>
          <p:nvPr/>
        </p:nvSpPr>
        <p:spPr>
          <a:xfrm>
            <a:off x="535675" y="449955"/>
            <a:ext cx="9358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Estructura general del Marco Metodológico </a:t>
            </a:r>
            <a:endParaRPr lang="es-AR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841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79059476-4861-44E7-72B3-CF8E3319B9E6}"/>
              </a:ext>
            </a:extLst>
          </p:cNvPr>
          <p:cNvSpPr txBox="1"/>
          <p:nvPr/>
        </p:nvSpPr>
        <p:spPr>
          <a:xfrm>
            <a:off x="126242" y="2866933"/>
            <a:ext cx="11624479" cy="1006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97840" algn="just">
              <a:lnSpc>
                <a:spcPct val="118000"/>
              </a:lnSpc>
              <a:spcAft>
                <a:spcPts val="325"/>
              </a:spcAft>
            </a:pPr>
            <a:r>
              <a:rPr lang="es-AR" sz="2600" b="1" kern="100" dirty="0">
                <a:solidFill>
                  <a:srgbClr val="196B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 metodología general adoptada</a:t>
            </a:r>
            <a:r>
              <a:rPr lang="es-AR" sz="2600" kern="100" dirty="0">
                <a:solidFill>
                  <a:srgbClr val="196B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es-AR" sz="2600" kern="1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ágil, orientada a objeto, mixta, prototipado, etc..</a:t>
            </a:r>
            <a:r>
              <a:rPr lang="es-AR" sz="26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72EBA10-23C3-221F-140E-F0CF08EEFF3D}"/>
              </a:ext>
            </a:extLst>
          </p:cNvPr>
          <p:cNvSpPr txBox="1"/>
          <p:nvPr/>
        </p:nvSpPr>
        <p:spPr>
          <a:xfrm>
            <a:off x="630171" y="3994339"/>
            <a:ext cx="1112054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600" dirty="0">
                <a:solidFill>
                  <a:srgbClr val="196B24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J</a:t>
            </a:r>
            <a:r>
              <a:rPr lang="es-AR" sz="2600" b="1" dirty="0">
                <a:solidFill>
                  <a:srgbClr val="196B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ustificación de por qué esa metodología</a:t>
            </a:r>
            <a:r>
              <a:rPr lang="es-AR" sz="2600" dirty="0">
                <a:solidFill>
                  <a:srgbClr val="196B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es-AR" sz="26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es la más adecuada para el proyecto y su contexto particular</a:t>
            </a:r>
            <a:endParaRPr lang="es-AR" sz="26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A593AF5-8A2F-75D7-76C7-369184C84CDB}"/>
              </a:ext>
            </a:extLst>
          </p:cNvPr>
          <p:cNvSpPr txBox="1"/>
          <p:nvPr/>
        </p:nvSpPr>
        <p:spPr>
          <a:xfrm>
            <a:off x="630171" y="5162266"/>
            <a:ext cx="11216086" cy="534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8000"/>
              </a:lnSpc>
              <a:spcAft>
                <a:spcPts val="325"/>
              </a:spcAft>
            </a:pPr>
            <a:r>
              <a:rPr lang="es-AR" sz="2600" b="1" kern="100" dirty="0">
                <a:solidFill>
                  <a:srgbClr val="196B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Marco de trabajo específico (si aplica)</a:t>
            </a:r>
            <a:r>
              <a:rPr lang="es-AR" sz="2600" kern="100" dirty="0">
                <a:solidFill>
                  <a:srgbClr val="196B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es-AR" sz="2600" kern="1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Scrum, Kanban. </a:t>
            </a:r>
            <a:endParaRPr lang="es-AR" sz="26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579EB2E-1003-4EE6-829D-27FEAE13D1F8}"/>
              </a:ext>
            </a:extLst>
          </p:cNvPr>
          <p:cNvSpPr txBox="1"/>
          <p:nvPr/>
        </p:nvSpPr>
        <p:spPr>
          <a:xfrm>
            <a:off x="3033215" y="1730102"/>
            <a:ext cx="742097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6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Metodología de desarrollo (o investigación)</a:t>
            </a:r>
            <a:r>
              <a:rPr lang="es-AR" sz="2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s-AR" sz="2600" dirty="0">
              <a:solidFill>
                <a:srgbClr val="0070C0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06EAD7F-7099-8310-E6B1-F1521526C703}"/>
              </a:ext>
            </a:extLst>
          </p:cNvPr>
          <p:cNvSpPr txBox="1"/>
          <p:nvPr/>
        </p:nvSpPr>
        <p:spPr>
          <a:xfrm>
            <a:off x="288976" y="180052"/>
            <a:ext cx="82818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Estructura general del Marco Metodológico </a:t>
            </a:r>
            <a:endParaRPr lang="es-AR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537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9BFAAE5-4D44-789C-07D3-E82CD96F8C4F}"/>
              </a:ext>
            </a:extLst>
          </p:cNvPr>
          <p:cNvSpPr txBox="1"/>
          <p:nvPr/>
        </p:nvSpPr>
        <p:spPr>
          <a:xfrm>
            <a:off x="665896" y="1034730"/>
            <a:ext cx="10491718" cy="548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3190" marR="111760" algn="just">
              <a:lnSpc>
                <a:spcPct val="120000"/>
              </a:lnSpc>
              <a:spcAft>
                <a:spcPts val="110"/>
              </a:spcAft>
            </a:pPr>
            <a:r>
              <a:rPr lang="es-AR" sz="2600" kern="1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En primera del plural (´desarrollamos´) o la tercera impersonal ('se desarrolló'), ambas opciones son válidas en el TIF 3, con una condición: </a:t>
            </a:r>
            <a:r>
              <a:rPr lang="es-AR" sz="2600" b="1" kern="1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consistencia a lo largo de todo el documento</a:t>
            </a:r>
            <a:r>
              <a:rPr lang="es-AR" sz="2600" kern="1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La mezcla arbitraria rompe la coherencia del texto y dificulta la corrección.</a:t>
            </a:r>
            <a:r>
              <a:rPr lang="es-AR" sz="26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</a:p>
          <a:p>
            <a:pPr marL="123190" marR="111760" algn="just">
              <a:lnSpc>
                <a:spcPct val="120000"/>
              </a:lnSpc>
              <a:spcAft>
                <a:spcPts val="110"/>
              </a:spcAft>
            </a:pPr>
            <a:r>
              <a:rPr lang="es-AR" sz="3200" b="1" kern="100" dirty="0">
                <a:solidFill>
                  <a:srgbClr val="1A6B3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Opciones recomendadas:</a:t>
            </a:r>
            <a:r>
              <a:rPr lang="es-AR" sz="32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</a:p>
          <a:p>
            <a:pPr marL="363855" indent="-190500" algn="just">
              <a:lnSpc>
                <a:spcPct val="115000"/>
              </a:lnSpc>
              <a:spcAft>
                <a:spcPts val="220"/>
              </a:spcAft>
            </a:pPr>
            <a:r>
              <a:rPr lang="es-AR" sz="2600" kern="100" dirty="0">
                <a:solidFill>
                  <a:srgbClr val="1A6B3A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▸</a:t>
            </a:r>
            <a:r>
              <a:rPr lang="es-AR" sz="2600" b="1" kern="100" dirty="0">
                <a:solidFill>
                  <a:srgbClr val="1A6B3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 Primera persona del plural</a:t>
            </a:r>
            <a:r>
              <a:rPr lang="es-AR" sz="2600" kern="1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: «Desarrollamos», «adoptamos», «definimos». Válida en proyectos de equipo y permite asumir autoría con claridad.</a:t>
            </a:r>
            <a:r>
              <a:rPr lang="es-AR" sz="26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</a:p>
          <a:p>
            <a:pPr marL="363855" indent="-190500" algn="just">
              <a:lnSpc>
                <a:spcPct val="115000"/>
              </a:lnSpc>
              <a:spcAft>
                <a:spcPts val="300"/>
              </a:spcAft>
            </a:pPr>
            <a:r>
              <a:rPr lang="es-AR" sz="2600" kern="100" dirty="0">
                <a:solidFill>
                  <a:srgbClr val="1A6B3A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▸</a:t>
            </a:r>
            <a:r>
              <a:rPr lang="es-AR" sz="2600" b="1" kern="100" dirty="0">
                <a:solidFill>
                  <a:srgbClr val="1A6B3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 Voz impersonal técnica</a:t>
            </a:r>
            <a:r>
              <a:rPr lang="es-AR" sz="2600" kern="1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: «El sistema implementa», «el módulo procesa», «se adoptó». Válida en proyectos individuales y da un tono más formal. </a:t>
            </a:r>
            <a:endParaRPr lang="es-AR" sz="26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08DE24B-6A03-C09B-4623-9F63A159DB11}"/>
              </a:ext>
            </a:extLst>
          </p:cNvPr>
          <p:cNvSpPr txBox="1"/>
          <p:nvPr/>
        </p:nvSpPr>
        <p:spPr>
          <a:xfrm>
            <a:off x="535674" y="449955"/>
            <a:ext cx="107521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Estructura general del Marco Metodológico: LA ESCRITURA </a:t>
            </a:r>
            <a:endParaRPr lang="es-AR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574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AAB7772-C365-6221-B8FB-91C2B04D2AC2}"/>
              </a:ext>
            </a:extLst>
          </p:cNvPr>
          <p:cNvSpPr txBox="1"/>
          <p:nvPr/>
        </p:nvSpPr>
        <p:spPr>
          <a:xfrm>
            <a:off x="755178" y="1235459"/>
            <a:ext cx="10532659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2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En un trabajo académico de nivel universitario, las decisiones metodológicas y tecnológicas deben respaldarse en literatura y por ende la obligación de citar fuentes fiables, científicamente válidas, bajo el formato de las Normas APA 7° versión. </a:t>
            </a:r>
            <a:endParaRPr lang="es-AR" sz="26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C28F784-66EE-6DF5-D2DB-A9278F0D7028}"/>
              </a:ext>
            </a:extLst>
          </p:cNvPr>
          <p:cNvSpPr txBox="1"/>
          <p:nvPr/>
        </p:nvSpPr>
        <p:spPr>
          <a:xfrm>
            <a:off x="535674" y="449955"/>
            <a:ext cx="107521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Estructura general del Marco Metodológico: LA BIBLIOGRAFÍA</a:t>
            </a:r>
            <a:endParaRPr lang="es-AR" sz="3200" b="1" dirty="0">
              <a:solidFill>
                <a:srgbClr val="0070C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164E1BA-8495-F22C-0E6D-19D0592871AE}"/>
              </a:ext>
            </a:extLst>
          </p:cNvPr>
          <p:cNvSpPr txBox="1"/>
          <p:nvPr/>
        </p:nvSpPr>
        <p:spPr>
          <a:xfrm>
            <a:off x="700586" y="3527352"/>
            <a:ext cx="10641842" cy="2197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1605" algn="just">
              <a:lnSpc>
                <a:spcPct val="118000"/>
              </a:lnSpc>
              <a:spcAft>
                <a:spcPts val="325"/>
              </a:spcAft>
            </a:pPr>
            <a:r>
              <a:rPr lang="es-AR" sz="24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Ingeniería Informática, las referencias válidas incluyen:</a:t>
            </a:r>
            <a:r>
              <a:rPr lang="es-AR" sz="24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382270" indent="-190500" algn="just">
              <a:lnSpc>
                <a:spcPct val="118000"/>
              </a:lnSpc>
              <a:spcAft>
                <a:spcPts val="110"/>
              </a:spcAft>
            </a:pPr>
            <a:r>
              <a:rPr lang="es-AR" kern="100" dirty="0">
                <a:solidFill>
                  <a:srgbClr val="1A6B3A"/>
                </a:solidFill>
                <a:effectLst/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▸</a:t>
            </a:r>
            <a:r>
              <a:rPr lang="es-AR" b="1" kern="100" dirty="0">
                <a:solidFill>
                  <a:srgbClr val="1A6B3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Literatura académica</a:t>
            </a:r>
            <a:r>
              <a:rPr lang="es-AR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libros de ingeniería de software, </a:t>
            </a:r>
            <a:r>
              <a:rPr lang="es-AR" kern="10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papers</a:t>
            </a:r>
            <a:r>
              <a:rPr lang="es-AR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conferencias (IEEE, ACM), artículos de revistas científicas.</a:t>
            </a:r>
            <a:r>
              <a:rPr lang="es-AR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382270" indent="-190500" algn="just">
              <a:lnSpc>
                <a:spcPct val="118000"/>
              </a:lnSpc>
              <a:spcAft>
                <a:spcPts val="115"/>
              </a:spcAft>
            </a:pPr>
            <a:r>
              <a:rPr lang="es-AR" kern="100" dirty="0">
                <a:solidFill>
                  <a:srgbClr val="1A6B3A"/>
                </a:solidFill>
                <a:effectLst/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▸</a:t>
            </a:r>
            <a:r>
              <a:rPr lang="es-AR" b="1" kern="100" dirty="0">
                <a:solidFill>
                  <a:srgbClr val="1A6B3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Documentación técnica oficial</a:t>
            </a:r>
            <a:r>
              <a:rPr lang="es-AR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AR" kern="10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RFCs</a:t>
            </a:r>
            <a:r>
              <a:rPr lang="es-AR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especificaciones de lenguajes, </a:t>
            </a:r>
            <a:r>
              <a:rPr lang="es-AR" kern="10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whitepapers</a:t>
            </a:r>
            <a:r>
              <a:rPr lang="es-AR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documentación de </a:t>
            </a:r>
            <a:r>
              <a:rPr lang="es-AR" kern="10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frameworks</a:t>
            </a:r>
            <a:r>
              <a:rPr lang="es-AR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r>
              <a:rPr lang="es-AR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382270" indent="-190500" algn="just">
              <a:lnSpc>
                <a:spcPct val="118000"/>
              </a:lnSpc>
              <a:spcAft>
                <a:spcPts val="325"/>
              </a:spcAft>
            </a:pPr>
            <a:r>
              <a:rPr lang="es-AR" kern="100" dirty="0">
                <a:solidFill>
                  <a:srgbClr val="1A6B3A"/>
                </a:solidFill>
                <a:effectLst/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▸</a:t>
            </a:r>
            <a:r>
              <a:rPr lang="es-AR" b="1" kern="100" dirty="0">
                <a:solidFill>
                  <a:srgbClr val="1A6B3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Estándares y normas</a:t>
            </a:r>
            <a:r>
              <a:rPr lang="es-AR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ISO, IEEE, documentos de organismos de estandarización.</a:t>
            </a:r>
            <a:r>
              <a:rPr lang="es-AR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4244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B1899DD5-0035-7A95-31CD-230F35CA3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513" y="911302"/>
            <a:ext cx="2818064" cy="786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" tIns="45720" rIns="41262" bIns="158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400" b="1" i="0" u="none" strike="noStrike" cap="none" normalizeH="0" baseline="0" dirty="0">
                <a:ln>
                  <a:noFill/>
                </a:ln>
                <a:effectLst/>
                <a:ea typeface="Calibri" panose="020F0502020204030204" pitchFamily="34" charset="0"/>
                <a:cs typeface="Arial" panose="020B0604020202020204" pitchFamily="34" charset="0"/>
              </a:rPr>
              <a:t>Secciones típicas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2400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</p:txBody>
      </p:sp>
      <p:grpSp>
        <p:nvGrpSpPr>
          <p:cNvPr id="3" name="Group 35655">
            <a:extLst>
              <a:ext uri="{FF2B5EF4-FFF2-40B4-BE49-F238E27FC236}">
                <a16:creationId xmlns:a16="http://schemas.microsoft.com/office/drawing/2014/main" id="{EF88EAE0-E166-FBC7-C9CA-6D57EA87CC57}"/>
              </a:ext>
            </a:extLst>
          </p:cNvPr>
          <p:cNvGrpSpPr/>
          <p:nvPr/>
        </p:nvGrpSpPr>
        <p:grpSpPr>
          <a:xfrm>
            <a:off x="1576534" y="3721839"/>
            <a:ext cx="27305" cy="249555"/>
            <a:chOff x="0" y="0"/>
            <a:chExt cx="27432" cy="249936"/>
          </a:xfrm>
        </p:grpSpPr>
        <p:sp>
          <p:nvSpPr>
            <p:cNvPr id="4" name="Shape 44522">
              <a:extLst>
                <a:ext uri="{FF2B5EF4-FFF2-40B4-BE49-F238E27FC236}">
                  <a16:creationId xmlns:a16="http://schemas.microsoft.com/office/drawing/2014/main" id="{37A968E2-157C-8A33-8F4F-EE07977BA946}"/>
                </a:ext>
              </a:extLst>
            </p:cNvPr>
            <p:cNvSpPr/>
            <p:nvPr/>
          </p:nvSpPr>
          <p:spPr>
            <a:xfrm>
              <a:off x="0" y="0"/>
              <a:ext cx="27432" cy="249936"/>
            </a:xfrm>
            <a:custGeom>
              <a:avLst/>
              <a:gdLst/>
              <a:ahLst/>
              <a:cxnLst/>
              <a:rect l="0" t="0" r="0" b="0"/>
              <a:pathLst>
                <a:path w="27432" h="249936">
                  <a:moveTo>
                    <a:pt x="0" y="0"/>
                  </a:moveTo>
                  <a:lnTo>
                    <a:pt x="27432" y="0"/>
                  </a:lnTo>
                  <a:lnTo>
                    <a:pt x="27432" y="249936"/>
                  </a:lnTo>
                  <a:lnTo>
                    <a:pt x="0" y="249936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E5F9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AR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7A2352C6-C163-8174-5237-0B9F21A19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51" y="1490008"/>
            <a:ext cx="1061791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rgbClr val="2E5F9F"/>
                </a:solidFill>
                <a:effectLst/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▸</a:t>
            </a:r>
            <a:r>
              <a:rPr kumimoji="0" lang="es-AR" altLang="es-AR" sz="2000" b="1" i="0" u="none" strike="noStrike" cap="none" normalizeH="0" baseline="0" dirty="0">
                <a:ln>
                  <a:noFill/>
                </a:ln>
                <a:solidFill>
                  <a:srgbClr val="2E5F9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kumimoji="0" lang="es-AR" altLang="es-AR" sz="2000" b="1" i="0" u="none" strike="noStrike" cap="none" normalizeH="0" baseline="0" dirty="0">
                <a:ln>
                  <a:noFill/>
                </a:ln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Arquitectura del sistema o diseño general</a:t>
            </a: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cómo se estructura la solución globalmente: capas, módulos, componentes, flujos de datos.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kumimoji="0" lang="es-AR" altLang="es-AR" sz="2000" b="0" i="0" u="none" strike="noStrike" cap="none" normalizeH="0" baseline="0" dirty="0">
              <a:ln>
                <a:noFill/>
              </a:ln>
              <a:solidFill>
                <a:srgbClr val="196B24"/>
              </a:solidFill>
              <a:effectLst/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rgbClr val="196B24"/>
                </a:solidFill>
                <a:effectLst/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▸</a:t>
            </a:r>
            <a:r>
              <a:rPr kumimoji="0" lang="es-AR" altLang="es-AR" sz="2000" b="1" i="0" u="none" strike="noStrike" cap="none" normalizeH="0" baseline="0" dirty="0">
                <a:ln>
                  <a:noFill/>
                </a:ln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Tecnologías y herramientas</a:t>
            </a: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lenguajes, </a:t>
            </a:r>
            <a:r>
              <a:rPr kumimoji="0" lang="es-AR" altLang="es-AR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frameworks</a:t>
            </a: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plataformas, librerías. Justificar cada elección y qué alternativas descartaste</a:t>
            </a: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DEB7D61-4496-B1D1-FA56-5DC7EAD23990}"/>
              </a:ext>
            </a:extLst>
          </p:cNvPr>
          <p:cNvSpPr txBox="1"/>
          <p:nvPr/>
        </p:nvSpPr>
        <p:spPr>
          <a:xfrm>
            <a:off x="288976" y="180052"/>
            <a:ext cx="82818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Estructura general del Marco Metodológico </a:t>
            </a:r>
            <a:endParaRPr lang="es-AR" sz="3200" b="1" dirty="0">
              <a:solidFill>
                <a:srgbClr val="0070C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A308146-A7D9-0012-0AAF-1D8F092B5ABB}"/>
              </a:ext>
            </a:extLst>
          </p:cNvPr>
          <p:cNvSpPr txBox="1"/>
          <p:nvPr/>
        </p:nvSpPr>
        <p:spPr>
          <a:xfrm>
            <a:off x="491351" y="3846616"/>
            <a:ext cx="11081932" cy="231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0665" indent="-190500" algn="just">
              <a:lnSpc>
                <a:spcPct val="118000"/>
              </a:lnSpc>
              <a:spcAft>
                <a:spcPts val="325"/>
              </a:spcAft>
            </a:pPr>
            <a:r>
              <a:rPr lang="es-AR" sz="2000" b="1" kern="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Desarrollo por componente</a:t>
            </a:r>
            <a:r>
              <a:rPr lang="es-AR" sz="2000" kern="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AR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qué hace cada parte, cómo se construyó y qué decisiones técnicas se tomaron.</a:t>
            </a:r>
            <a:r>
              <a:rPr lang="es-AR" sz="2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240665" indent="-190500" algn="just">
              <a:lnSpc>
                <a:spcPct val="118000"/>
              </a:lnSpc>
              <a:spcAft>
                <a:spcPts val="325"/>
              </a:spcAft>
            </a:pPr>
            <a:r>
              <a:rPr lang="es-AR" sz="2000" kern="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▸</a:t>
            </a:r>
            <a:r>
              <a:rPr lang="es-AR" sz="2000" b="1" kern="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Integración</a:t>
            </a:r>
            <a:r>
              <a:rPr lang="es-AR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cómo interactúan las partes entre sí y con sistemas externos, en el caso en que los hubiere.</a:t>
            </a:r>
            <a:r>
              <a:rPr lang="es-AR" sz="2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240665" indent="-190500" algn="just">
              <a:lnSpc>
                <a:spcPct val="118000"/>
              </a:lnSpc>
              <a:spcAft>
                <a:spcPts val="325"/>
              </a:spcAft>
            </a:pPr>
            <a:r>
              <a:rPr lang="es-AR" sz="2000" kern="100" dirty="0">
                <a:solidFill>
                  <a:srgbClr val="2E5F9F"/>
                </a:solidFill>
                <a:effectLst/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▸</a:t>
            </a:r>
            <a:r>
              <a:rPr lang="es-AR" sz="2000" b="1" kern="100" dirty="0">
                <a:solidFill>
                  <a:srgbClr val="2E5F9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es-AR" sz="2000" b="1" kern="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Iteraciones o </a:t>
            </a:r>
            <a:r>
              <a:rPr lang="es-AR" sz="2000" b="1" kern="100" dirty="0" err="1"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sprints</a:t>
            </a:r>
            <a:r>
              <a:rPr lang="es-AR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por usar metodología ágil, se documenta cada ciclo con objetivos, entregables y aprendizajes.</a:t>
            </a:r>
            <a:r>
              <a:rPr lang="es-AR" sz="2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1963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3E0B1D8-335F-42A1-E286-D15EE1183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141519"/>
              </p:ext>
            </p:extLst>
          </p:nvPr>
        </p:nvGraphicFramePr>
        <p:xfrm>
          <a:off x="450377" y="920476"/>
          <a:ext cx="11532358" cy="451789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99295">
                  <a:extLst>
                    <a:ext uri="{9D8B030D-6E8A-4147-A177-3AD203B41FA5}">
                      <a16:colId xmlns:a16="http://schemas.microsoft.com/office/drawing/2014/main" val="2944387582"/>
                    </a:ext>
                  </a:extLst>
                </a:gridCol>
                <a:gridCol w="6933063">
                  <a:extLst>
                    <a:ext uri="{9D8B030D-6E8A-4147-A177-3AD203B41FA5}">
                      <a16:colId xmlns:a16="http://schemas.microsoft.com/office/drawing/2014/main" val="1084078230"/>
                    </a:ext>
                  </a:extLst>
                </a:gridCol>
              </a:tblGrid>
              <a:tr h="562942">
                <a:tc>
                  <a:txBody>
                    <a:bodyPr/>
                    <a:lstStyle/>
                    <a:p>
                      <a:pPr marL="63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</a:t>
                      </a:r>
                      <a:r>
                        <a:rPr lang="es-AR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Solo descripción (insuficiente) </a:t>
                      </a:r>
                      <a:endParaRPr lang="es-AR" sz="2000" b="1" kern="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2665" marR="38224" marT="2953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873125" algn="ctr"/>
                          <a:tab pos="1544320" algn="ctr"/>
                          <a:tab pos="2722245" algn="r"/>
                        </a:tabLst>
                      </a:pPr>
                      <a:r>
                        <a:rPr lang="es-AR" sz="20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</a:t>
                      </a:r>
                      <a:r>
                        <a:rPr lang="es-AR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Descripción 	+ 	justificación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(correcto) </a:t>
                      </a:r>
                      <a:endParaRPr lang="es-AR" sz="1800" b="1" kern="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2665" marR="38224" marT="29537" marB="0" anchor="ctr"/>
                </a:tc>
                <a:extLst>
                  <a:ext uri="{0D108BD9-81ED-4DB2-BD59-A6C34878D82A}">
                    <a16:rowId xmlns:a16="http://schemas.microsoft.com/office/drawing/2014/main" val="2193561332"/>
                  </a:ext>
                </a:extLst>
              </a:tr>
              <a:tr h="1269575">
                <a:tc>
                  <a:txBody>
                    <a:bodyPr/>
                    <a:lstStyle/>
                    <a:p>
                      <a:pPr marL="63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«Se usó </a:t>
                      </a:r>
                      <a:r>
                        <a:rPr lang="es-AR" sz="20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React</a:t>
                      </a:r>
                      <a:r>
                        <a:rPr lang="es-AR" sz="20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para el </a:t>
                      </a:r>
                      <a:r>
                        <a:rPr lang="es-AR" sz="20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frontend</a:t>
                      </a:r>
                      <a:r>
                        <a:rPr lang="es-AR" sz="20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.» </a:t>
                      </a:r>
                      <a:endParaRPr lang="es-AR" sz="2000" kern="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2665" marR="38224" marT="29537" marB="0"/>
                </a:tc>
                <a:tc>
                  <a:txBody>
                    <a:bodyPr/>
                    <a:lstStyle/>
                    <a:p>
                      <a:pPr marR="3365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«Se eligió React sobre Vue por su ecosistema de gestión de estado global (Redux), dado que la aplicación gestiona múltiples flujos concurrentes de datos entre módulos.» </a:t>
                      </a:r>
                      <a:endParaRPr lang="es-AR" sz="20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2665" marR="38224" marT="29537" marB="0"/>
                </a:tc>
                <a:extLst>
                  <a:ext uri="{0D108BD9-81ED-4DB2-BD59-A6C34878D82A}">
                    <a16:rowId xmlns:a16="http://schemas.microsoft.com/office/drawing/2014/main" val="2234612006"/>
                  </a:ext>
                </a:extLst>
              </a:tr>
              <a:tr h="124924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"/>
                        </a:spcAft>
                        <a:tabLst>
                          <a:tab pos="558800" algn="ctr"/>
                          <a:tab pos="974725" algn="ctr"/>
                          <a:tab pos="1417955" algn="ctr"/>
                          <a:tab pos="2070100" algn="ctr"/>
                          <a:tab pos="2722880" algn="r"/>
                        </a:tabLst>
                      </a:pPr>
                      <a:r>
                        <a:rPr lang="es-AR" sz="20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«La 	base 	de 	datos 	utilizada 	es </a:t>
                      </a:r>
                    </a:p>
                    <a:p>
                      <a:pPr marL="63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PostgreSQL.» </a:t>
                      </a:r>
                      <a:endParaRPr lang="es-AR" sz="20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2665" marR="38224" marT="29537" marB="0"/>
                </a:tc>
                <a:tc>
                  <a:txBody>
                    <a:bodyPr/>
                    <a:lstStyle/>
                    <a:p>
                      <a:pPr marR="3365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«Se eligió PostgreSQL sobre MySQL por su soporte nativo de datos JSON y su robustez en consultas complejas con joins, necesarias para el modelo de datos del sistema.» </a:t>
                      </a:r>
                      <a:endParaRPr lang="es-AR" sz="20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2665" marR="38224" marT="29537" marB="0"/>
                </a:tc>
                <a:extLst>
                  <a:ext uri="{0D108BD9-81ED-4DB2-BD59-A6C34878D82A}">
                    <a16:rowId xmlns:a16="http://schemas.microsoft.com/office/drawing/2014/main" val="4913214"/>
                  </a:ext>
                </a:extLst>
              </a:tr>
              <a:tr h="1269575">
                <a:tc>
                  <a:txBody>
                    <a:bodyPr/>
                    <a:lstStyle/>
                    <a:p>
                      <a:pPr marL="63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«Se implementó autenticación JWT.» </a:t>
                      </a:r>
                      <a:endParaRPr lang="es-AR" sz="20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2665" marR="38224" marT="29537" marB="0"/>
                </a:tc>
                <a:tc>
                  <a:txBody>
                    <a:bodyPr/>
                    <a:lstStyle/>
                    <a:p>
                      <a:pPr marR="3302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«Se implementó JWT en lugar de sesiones server-</a:t>
                      </a:r>
                      <a:r>
                        <a:rPr lang="es-AR" sz="20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side</a:t>
                      </a:r>
                      <a:r>
                        <a:rPr lang="es-AR" sz="20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para mantener la arquitectura </a:t>
                      </a:r>
                      <a:r>
                        <a:rPr lang="es-AR" sz="20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stateless</a:t>
                      </a:r>
                      <a:r>
                        <a:rPr lang="es-AR" sz="20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del </a:t>
                      </a:r>
                      <a:r>
                        <a:rPr lang="es-AR" sz="20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backend</a:t>
                      </a:r>
                      <a:r>
                        <a:rPr lang="es-AR" sz="20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requerida por el despliegue en contenedores sin estado compartido.» </a:t>
                      </a:r>
                      <a:endParaRPr lang="es-AR" sz="2000" kern="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2665" marR="38224" marT="29537" marB="0"/>
                </a:tc>
                <a:extLst>
                  <a:ext uri="{0D108BD9-81ED-4DB2-BD59-A6C34878D82A}">
                    <a16:rowId xmlns:a16="http://schemas.microsoft.com/office/drawing/2014/main" val="840181789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75F62C6-DF90-BFCF-88AC-E8AC641C6010}"/>
              </a:ext>
            </a:extLst>
          </p:cNvPr>
          <p:cNvSpPr txBox="1"/>
          <p:nvPr/>
        </p:nvSpPr>
        <p:spPr>
          <a:xfrm>
            <a:off x="259307" y="178263"/>
            <a:ext cx="31389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600" b="1" dirty="0">
                <a:solidFill>
                  <a:srgbClr val="0070C0"/>
                </a:solidFill>
              </a:rPr>
              <a:t>EJEMPLOS</a:t>
            </a:r>
          </a:p>
        </p:txBody>
      </p:sp>
    </p:spTree>
    <p:extLst>
      <p:ext uri="{BB962C8B-B14F-4D97-AF65-F5344CB8AC3E}">
        <p14:creationId xmlns:p14="http://schemas.microsoft.com/office/powerpoint/2010/main" val="24780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86C688A-0785-0558-31BB-2C1BB2E1D6BC}"/>
              </a:ext>
            </a:extLst>
          </p:cNvPr>
          <p:cNvSpPr txBox="1"/>
          <p:nvPr/>
        </p:nvSpPr>
        <p:spPr>
          <a:xfrm>
            <a:off x="876868" y="1312219"/>
            <a:ext cx="10873853" cy="363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425"/>
              </a:spcAft>
            </a:pPr>
            <a:r>
              <a:rPr lang="es-AR" sz="2600" b="1" kern="100" dirty="0">
                <a:solidFill>
                  <a:srgbClr val="1A6B3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Sobre el código fuente en el marco metodológico:</a:t>
            </a:r>
            <a:r>
              <a:rPr lang="es-AR" sz="2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507365" algn="just">
              <a:lnSpc>
                <a:spcPct val="107000"/>
              </a:lnSpc>
              <a:spcAft>
                <a:spcPts val="270"/>
              </a:spcAft>
            </a:pPr>
            <a:r>
              <a:rPr lang="es-AR" sz="26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incluir bloques enteros de código. </a:t>
            </a:r>
          </a:p>
          <a:p>
            <a:pPr marL="507365" algn="just">
              <a:lnSpc>
                <a:spcPct val="107000"/>
              </a:lnSpc>
              <a:spcAft>
                <a:spcPts val="270"/>
              </a:spcAft>
            </a:pPr>
            <a:r>
              <a:rPr lang="es-AR" sz="26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marco metodológico NO es un repositorio.</a:t>
            </a:r>
            <a:r>
              <a:rPr lang="es-AR" sz="2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507365" algn="just">
              <a:lnSpc>
                <a:spcPct val="115000"/>
              </a:lnSpc>
              <a:spcAft>
                <a:spcPts val="145"/>
              </a:spcAft>
            </a:pPr>
            <a:r>
              <a:rPr lang="es-AR" sz="26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Incluya fragmentos representativos (10-20 líneas) que ilustren decisiones de diseño no triviales.</a:t>
            </a:r>
            <a:r>
              <a:rPr lang="es-AR" sz="26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endParaRPr lang="es-AR" sz="2600" dirty="0">
              <a:solidFill>
                <a:srgbClr val="333333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6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Cada fragmento debe ir acompañado de una explicación de por qué esa decisión y no otra.</a:t>
            </a:r>
            <a:r>
              <a:rPr lang="es-AR" sz="2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s-AR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D7760BC-A243-556F-0869-2CF737A462DA}"/>
              </a:ext>
            </a:extLst>
          </p:cNvPr>
          <p:cNvSpPr txBox="1"/>
          <p:nvPr/>
        </p:nvSpPr>
        <p:spPr>
          <a:xfrm>
            <a:off x="288976" y="180052"/>
            <a:ext cx="82818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Estructura general del Marco Metodológico </a:t>
            </a:r>
            <a:endParaRPr lang="es-AR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7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324C385-8343-38B2-21D6-7A12536E4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13380"/>
              </p:ext>
            </p:extLst>
          </p:nvPr>
        </p:nvGraphicFramePr>
        <p:xfrm>
          <a:off x="600502" y="761830"/>
          <a:ext cx="10931856" cy="477939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846491">
                  <a:extLst>
                    <a:ext uri="{9D8B030D-6E8A-4147-A177-3AD203B41FA5}">
                      <a16:colId xmlns:a16="http://schemas.microsoft.com/office/drawing/2014/main" val="965153672"/>
                    </a:ext>
                  </a:extLst>
                </a:gridCol>
                <a:gridCol w="6085365">
                  <a:extLst>
                    <a:ext uri="{9D8B030D-6E8A-4147-A177-3AD203B41FA5}">
                      <a16:colId xmlns:a16="http://schemas.microsoft.com/office/drawing/2014/main" val="477105937"/>
                    </a:ext>
                  </a:extLst>
                </a:gridCol>
              </a:tblGrid>
              <a:tr h="45085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200" b="1" kern="100" dirty="0">
                          <a:solidFill>
                            <a:srgbClr val="0070C0"/>
                          </a:solidFill>
                          <a:effectLst/>
                        </a:rPr>
                        <a:t>Preguntas orientadoras y disparadores de escritura </a:t>
                      </a:r>
                      <a:endParaRPr lang="es-AR" sz="2200" b="1" kern="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2235" marR="41275" marT="32385" marB="0"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648576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R="3619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b="1" kern="100" dirty="0">
                          <a:effectLst/>
                        </a:rPr>
                        <a:t>Pregunta orientadora </a:t>
                      </a:r>
                      <a:endParaRPr lang="es-AR" sz="2000" b="1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2235" marR="41275" marT="32385" marB="0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3302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b="1" kern="100" dirty="0">
                          <a:effectLst/>
                        </a:rPr>
                        <a:t>Disparador de escritura </a:t>
                      </a:r>
                      <a:endParaRPr lang="es-AR" sz="2000" b="1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2235" marR="41275" marT="32385" marB="0"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841714"/>
                  </a:ext>
                </a:extLst>
              </a:tr>
              <a:tr h="110490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¿Qué componentes tiene la solución y cómo se relacionan? </a:t>
                      </a:r>
                      <a:endParaRPr lang="es-AR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2235" marR="41275" marT="323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>
                          <a:effectLst/>
                        </a:rPr>
                        <a:t>«La arquitectura del sistema se organiza en [N] capas/módulos principales: [lista]. La comunicación 	entre 	ellos 	ocurre mediante...» </a:t>
                      </a:r>
                      <a:endParaRPr lang="es-AR" sz="20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2235" marR="41275" marT="32385" marB="0"/>
                </a:tc>
                <a:extLst>
                  <a:ext uri="{0D108BD9-81ED-4DB2-BD59-A6C34878D82A}">
                    <a16:rowId xmlns:a16="http://schemas.microsoft.com/office/drawing/2014/main" val="797142705"/>
                  </a:ext>
                </a:extLst>
              </a:tr>
              <a:tr h="112141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>
                          <a:effectLst/>
                        </a:rPr>
                        <a:t>¿Qué herramientas se eligieron y por qué? </a:t>
                      </a:r>
                      <a:endParaRPr lang="es-AR" sz="20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2235" marR="41275" marT="323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5"/>
                        </a:spcAft>
                        <a:tabLst>
                          <a:tab pos="668655" algn="ctr"/>
                          <a:tab pos="1194435" algn="ctr"/>
                          <a:tab pos="1812925" algn="ctr"/>
                          <a:tab pos="2409825" algn="ctr"/>
                          <a:tab pos="3048000" algn="r"/>
                        </a:tabLst>
                      </a:pPr>
                      <a:r>
                        <a:rPr lang="es-AR" sz="2000" kern="100">
                          <a:effectLst/>
                        </a:rPr>
                        <a:t>«La 	elección 	de 	[tecnología 	X] 	sobre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>
                          <a:effectLst/>
                        </a:rPr>
                        <a:t>[tecnología Y] respondió a [criterio técnico], dado que el proyecto requería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>
                          <a:effectLst/>
                        </a:rPr>
                        <a:t>[característica específica]...» </a:t>
                      </a:r>
                      <a:endParaRPr lang="es-AR" sz="20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2235" marR="41275" marT="32385" marB="0"/>
                </a:tc>
                <a:extLst>
                  <a:ext uri="{0D108BD9-81ED-4DB2-BD59-A6C34878D82A}">
                    <a16:rowId xmlns:a16="http://schemas.microsoft.com/office/drawing/2014/main" val="3327188795"/>
                  </a:ext>
                </a:extLst>
              </a:tr>
              <a:tr h="1062355">
                <a:tc>
                  <a:txBody>
                    <a:bodyPr/>
                    <a:lstStyle/>
                    <a:p>
                      <a:pPr marR="3429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>
                          <a:effectLst/>
                        </a:rPr>
                        <a:t>¿Qué desafíos técnicos se encontraron y cómo se resolvieron? </a:t>
                      </a:r>
                      <a:endParaRPr lang="es-AR" sz="20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2235" marR="41275" marT="32385" marB="0"/>
                </a:tc>
                <a:tc>
                  <a:txBody>
                    <a:bodyPr/>
                    <a:lstStyle/>
                    <a:p>
                      <a:pPr marR="33020" algn="just">
                        <a:lnSpc>
                          <a:spcPct val="114000"/>
                        </a:lnSpc>
                        <a:spcAft>
                          <a:spcPts val="5"/>
                        </a:spcAft>
                      </a:pPr>
                      <a:r>
                        <a:rPr lang="es-AR" sz="2000" kern="100" dirty="0">
                          <a:effectLst/>
                        </a:rPr>
                        <a:t>«Durante el desarrollo de [componente], se identificó que [problema]. La solución adoptada fue [solución] porque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[justificación]...» </a:t>
                      </a:r>
                      <a:endParaRPr lang="es-AR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2235" marR="41275" marT="32385" marB="0"/>
                </a:tc>
                <a:extLst>
                  <a:ext uri="{0D108BD9-81ED-4DB2-BD59-A6C34878D82A}">
                    <a16:rowId xmlns:a16="http://schemas.microsoft.com/office/drawing/2014/main" val="1641591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596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6394DE2-252A-0668-26AE-C873B074B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301745"/>
              </p:ext>
            </p:extLst>
          </p:nvPr>
        </p:nvGraphicFramePr>
        <p:xfrm>
          <a:off x="777923" y="1584913"/>
          <a:ext cx="10945504" cy="37171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73359">
                  <a:extLst>
                    <a:ext uri="{9D8B030D-6E8A-4147-A177-3AD203B41FA5}">
                      <a16:colId xmlns:a16="http://schemas.microsoft.com/office/drawing/2014/main" val="667880228"/>
                    </a:ext>
                  </a:extLst>
                </a:gridCol>
                <a:gridCol w="5472145">
                  <a:extLst>
                    <a:ext uri="{9D8B030D-6E8A-4147-A177-3AD203B41FA5}">
                      <a16:colId xmlns:a16="http://schemas.microsoft.com/office/drawing/2014/main" val="487812845"/>
                    </a:ext>
                  </a:extLst>
                </a:gridCol>
              </a:tblGrid>
              <a:tr h="327660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400" b="1" kern="100" dirty="0">
                          <a:effectLst/>
                        </a:rPr>
                        <a:t>⚠️ NO CONFUNDIR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400" b="1" kern="100" dirty="0">
                          <a:effectLst/>
                        </a:rPr>
                        <a:t> </a:t>
                      </a:r>
                      <a:endParaRPr lang="es-AR" sz="2400" b="1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1600" marR="50800" marT="35560" marB="0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01600" marR="50800" marT="35560" marB="0"/>
                </a:tc>
                <a:extLst>
                  <a:ext uri="{0D108BD9-81ED-4DB2-BD59-A6C34878D82A}">
                    <a16:rowId xmlns:a16="http://schemas.microsoft.com/office/drawing/2014/main" val="2537578255"/>
                  </a:ext>
                </a:extLst>
              </a:tr>
              <a:tr h="1584325">
                <a:tc>
                  <a:txBody>
                    <a:bodyPr/>
                    <a:lstStyle/>
                    <a:p>
                      <a:pPr marL="635">
                        <a:lnSpc>
                          <a:spcPct val="107000"/>
                        </a:lnSpc>
                        <a:spcAft>
                          <a:spcPts val="100"/>
                        </a:spcAft>
                      </a:pPr>
                      <a:r>
                        <a:rPr lang="es-AR" sz="2400" b="1" u="sng" kern="100" dirty="0">
                          <a:effectLst/>
                          <a:uFill>
                            <a:solidFill>
                              <a:srgbClr val="2E5F9F"/>
                            </a:solidFill>
                          </a:uFill>
                        </a:rPr>
                        <a:t>Análisis de resultados — Cap. 3</a:t>
                      </a:r>
                      <a:r>
                        <a:rPr lang="es-AR" sz="2400" b="1" kern="100" dirty="0">
                          <a:effectLst/>
                        </a:rPr>
                        <a:t> </a:t>
                      </a:r>
                      <a:r>
                        <a:rPr lang="es-AR" sz="2400" kern="100" dirty="0">
                          <a:effectLst/>
                        </a:rPr>
                        <a:t>  </a:t>
                      </a:r>
                    </a:p>
                    <a:p>
                      <a:pPr marL="635">
                        <a:lnSpc>
                          <a:spcPct val="107000"/>
                        </a:lnSpc>
                        <a:spcAft>
                          <a:spcPts val="100"/>
                        </a:spcAft>
                      </a:pPr>
                      <a:r>
                        <a:rPr lang="es-AR" sz="2400" kern="100" dirty="0">
                          <a:effectLst/>
                        </a:rPr>
                        <a:t> </a:t>
                      </a:r>
                    </a:p>
                    <a:p>
                      <a:pPr marL="635">
                        <a:lnSpc>
                          <a:spcPct val="107000"/>
                        </a:lnSpc>
                        <a:spcAft>
                          <a:spcPts val="115"/>
                        </a:spcAft>
                      </a:pPr>
                      <a:r>
                        <a:rPr lang="es-AR" sz="2400" b="1" kern="100" dirty="0">
                          <a:solidFill>
                            <a:srgbClr val="0070C0"/>
                          </a:solidFill>
                          <a:effectLst/>
                        </a:rPr>
                        <a:t>Responde:  </a:t>
                      </a:r>
                    </a:p>
                    <a:p>
                      <a:pPr marL="635">
                        <a:lnSpc>
                          <a:spcPct val="107000"/>
                        </a:lnSpc>
                        <a:spcAft>
                          <a:spcPts val="100"/>
                        </a:spcAft>
                      </a:pPr>
                      <a:r>
                        <a:rPr lang="es-AR" sz="2400" kern="100" dirty="0">
                          <a:effectLst/>
                        </a:rPr>
                        <a:t> </a:t>
                      </a:r>
                    </a:p>
                    <a:p>
                      <a:pPr marL="635" marR="2667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400" kern="100" dirty="0">
                          <a:effectLst/>
                        </a:rPr>
                        <a:t>¿qué obtuve y qué significa lo que obtuve? Permanece pegado a la evidencia. No sale del capítulo. </a:t>
                      </a:r>
                      <a:endParaRPr lang="es-AR" sz="24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50800" marT="355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00"/>
                        </a:spcAft>
                      </a:pPr>
                      <a:r>
                        <a:rPr lang="es-AR" sz="2400" b="1" u="sng" kern="100" dirty="0">
                          <a:effectLst/>
                          <a:uFill>
                            <a:solidFill>
                              <a:srgbClr val="1A6B3A"/>
                            </a:solidFill>
                          </a:uFill>
                        </a:rPr>
                        <a:t> del </a:t>
                      </a:r>
                      <a:r>
                        <a:rPr lang="es-AR" sz="2400" b="1" u="sng" kern="100" dirty="0" err="1">
                          <a:effectLst/>
                          <a:uFill>
                            <a:solidFill>
                              <a:srgbClr val="1A6B3A"/>
                            </a:solidFill>
                          </a:uFill>
                        </a:rPr>
                        <a:t>TFGConclusiones</a:t>
                      </a:r>
                      <a:r>
                        <a:rPr lang="es-AR" sz="2400" b="1" u="sng" kern="100" dirty="0">
                          <a:effectLst/>
                          <a:uFill>
                            <a:solidFill>
                              <a:srgbClr val="1A6B3A"/>
                            </a:solidFill>
                          </a:uFill>
                        </a:rPr>
                        <a:t> — Capítulo final</a:t>
                      </a:r>
                      <a:r>
                        <a:rPr lang="es-AR" sz="2400" b="1" kern="100" dirty="0">
                          <a:effectLst/>
                        </a:rPr>
                        <a:t>  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100"/>
                        </a:spcAft>
                      </a:pPr>
                      <a:r>
                        <a:rPr lang="es-AR" sz="2400" kern="100" dirty="0">
                          <a:effectLst/>
                        </a:rPr>
                        <a:t>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115"/>
                        </a:spcAft>
                      </a:pPr>
                      <a:r>
                        <a:rPr lang="es-AR" sz="2400" b="1" kern="100" dirty="0">
                          <a:solidFill>
                            <a:srgbClr val="0070C0"/>
                          </a:solidFill>
                          <a:effectLst/>
                        </a:rPr>
                        <a:t>Responde: 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100"/>
                        </a:spcAft>
                      </a:pPr>
                      <a:r>
                        <a:rPr lang="es-AR" sz="2400" kern="100" dirty="0">
                          <a:effectLst/>
                        </a:rPr>
                        <a:t>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400" kern="100" dirty="0">
                          <a:effectLst/>
                        </a:rPr>
                        <a:t>¿qué aprendí y qué valor tiene? Integra toda la tesis. Mira hacia afuera del capítulo. </a:t>
                      </a:r>
                      <a:endParaRPr lang="es-AR" sz="24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50800" marT="35560" marB="0"/>
                </a:tc>
                <a:extLst>
                  <a:ext uri="{0D108BD9-81ED-4DB2-BD59-A6C34878D82A}">
                    <a16:rowId xmlns:a16="http://schemas.microsoft.com/office/drawing/2014/main" val="988943191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FE6336F7-5735-82EE-211F-2B266999B34B}"/>
              </a:ext>
            </a:extLst>
          </p:cNvPr>
          <p:cNvSpPr txBox="1"/>
          <p:nvPr/>
        </p:nvSpPr>
        <p:spPr>
          <a:xfrm>
            <a:off x="627797" y="395785"/>
            <a:ext cx="391690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600" b="1" dirty="0">
                <a:solidFill>
                  <a:srgbClr val="0070C0"/>
                </a:solidFill>
              </a:rPr>
              <a:t>Análisis de Resultados</a:t>
            </a:r>
          </a:p>
        </p:txBody>
      </p:sp>
    </p:spTree>
    <p:extLst>
      <p:ext uri="{BB962C8B-B14F-4D97-AF65-F5344CB8AC3E}">
        <p14:creationId xmlns:p14="http://schemas.microsoft.com/office/powerpoint/2010/main" val="1868216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FBA8288-CE1E-4767-60B0-8A8907E3DA10}"/>
              </a:ext>
            </a:extLst>
          </p:cNvPr>
          <p:cNvSpPr txBox="1"/>
          <p:nvPr/>
        </p:nvSpPr>
        <p:spPr>
          <a:xfrm>
            <a:off x="288977" y="869355"/>
            <a:ext cx="11557280" cy="5836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3715" marR="36195" algn="just">
              <a:lnSpc>
                <a:spcPct val="112000"/>
              </a:lnSpc>
              <a:spcAft>
                <a:spcPts val="415"/>
              </a:spcAft>
            </a:pPr>
            <a:r>
              <a:rPr lang="es-AR" sz="2000" b="1" kern="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Presentar los resultados en bruto</a:t>
            </a:r>
            <a:r>
              <a:rPr lang="es-AR" sz="2000" kern="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AR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antes de interpretar, mostrar: métricas, gráficos, tablas, capturas, salidas del sistema. El lector debe ver los datos antes de leer tu interpretación de ellos.</a:t>
            </a:r>
            <a:r>
              <a:rPr lang="es-AR" sz="2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513715" marR="36195" algn="just">
              <a:lnSpc>
                <a:spcPct val="112000"/>
              </a:lnSpc>
              <a:spcAft>
                <a:spcPts val="415"/>
              </a:spcAft>
            </a:pPr>
            <a:r>
              <a:rPr lang="es-AR" sz="2000" b="1" kern="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Describir qué muestran los datos</a:t>
            </a:r>
            <a:r>
              <a:rPr lang="es-AR" sz="2000" kern="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AR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lo que significan todavía: qué se observa. Ejemplo: «El modelo obtuvo 91% de </a:t>
            </a:r>
            <a:r>
              <a:rPr lang="es-AR" sz="2000" kern="10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accuracy</a:t>
            </a:r>
            <a:r>
              <a:rPr lang="es-AR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en el conjunto de prueba y 78% en el conjunto de validación cruzada.»</a:t>
            </a:r>
            <a:r>
              <a:rPr lang="es-AR" sz="2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513715" marR="36195" algn="just">
              <a:lnSpc>
                <a:spcPct val="112000"/>
              </a:lnSpc>
              <a:spcAft>
                <a:spcPts val="415"/>
              </a:spcAft>
            </a:pPr>
            <a:r>
              <a:rPr lang="es-AR" sz="2000" b="1" kern="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Interpretar en relación a los objetivos</a:t>
            </a:r>
            <a:r>
              <a:rPr lang="es-AR" sz="2000" kern="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AR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¿Ese resultado alcanza el umbral planteado? ¿Supera o queda por debajo de lo esperado? ¿Por qué? Cada interpretación debe anclar en un dato concreto.</a:t>
            </a:r>
            <a:r>
              <a:rPr lang="es-AR" sz="2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513715" marR="36195" algn="just">
              <a:lnSpc>
                <a:spcPct val="112000"/>
              </a:lnSpc>
              <a:spcAft>
                <a:spcPts val="415"/>
              </a:spcAft>
            </a:pPr>
            <a:r>
              <a:rPr lang="es-AR" sz="2000" b="1" kern="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Analizar discrepancias y comportamientos inesperados</a:t>
            </a:r>
            <a:r>
              <a:rPr lang="es-AR" sz="2000" kern="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AR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 algo no salió como se esperaba, ¿Dónde falla el modelo? ¿En qué condiciones mejora? ¿Qué explica la diferencia entre escenarios?</a:t>
            </a:r>
            <a:r>
              <a:rPr lang="es-AR" sz="2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513715" marR="36195" algn="just">
              <a:lnSpc>
                <a:spcPct val="112000"/>
              </a:lnSpc>
              <a:spcAft>
                <a:spcPts val="415"/>
              </a:spcAft>
            </a:pPr>
            <a:r>
              <a:rPr lang="es-AR" sz="2000" b="1" kern="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Señalar limitaciones del análisis</a:t>
            </a:r>
            <a:r>
              <a:rPr lang="es-AR" sz="2000" kern="100" dirty="0">
                <a:solidFill>
                  <a:srgbClr val="196B24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AR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qué no se pudo medir, qué quedó fuera del alcance, qué sesgo puede haber en los datos o en el método. Esto no es debilidad: es rigor académico.</a:t>
            </a:r>
            <a:r>
              <a:rPr lang="es-AR" sz="2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513715" marR="36195" algn="ctr">
              <a:lnSpc>
                <a:spcPct val="112000"/>
              </a:lnSpc>
              <a:spcAft>
                <a:spcPts val="525"/>
              </a:spcAft>
            </a:pPr>
            <a:r>
              <a:rPr lang="es-AR" sz="2000" b="1" kern="1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STOP: no recomendar trabajo futuro, no generalizar a contextos distintos, no valorar el proyecto en su conjunto. Eso va en las conclusiones.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B6A586D-BA27-AAED-5601-2264B530DC65}"/>
              </a:ext>
            </a:extLst>
          </p:cNvPr>
          <p:cNvSpPr txBox="1"/>
          <p:nvPr/>
        </p:nvSpPr>
        <p:spPr>
          <a:xfrm>
            <a:off x="288976" y="180052"/>
            <a:ext cx="82818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Cómo escribir el Marco Metodológico </a:t>
            </a:r>
            <a:endParaRPr lang="es-AR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433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7BBD48B-8773-F95D-45F1-17DDD41C2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358161"/>
              </p:ext>
            </p:extLst>
          </p:nvPr>
        </p:nvGraphicFramePr>
        <p:xfrm>
          <a:off x="518615" y="446583"/>
          <a:ext cx="11327641" cy="416458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622878">
                  <a:extLst>
                    <a:ext uri="{9D8B030D-6E8A-4147-A177-3AD203B41FA5}">
                      <a16:colId xmlns:a16="http://schemas.microsoft.com/office/drawing/2014/main" val="3327405626"/>
                    </a:ext>
                  </a:extLst>
                </a:gridCol>
                <a:gridCol w="5704763">
                  <a:extLst>
                    <a:ext uri="{9D8B030D-6E8A-4147-A177-3AD203B41FA5}">
                      <a16:colId xmlns:a16="http://schemas.microsoft.com/office/drawing/2014/main" val="2678967245"/>
                    </a:ext>
                  </a:extLst>
                </a:gridCol>
              </a:tblGrid>
              <a:tr h="519430">
                <a:tc>
                  <a:txBody>
                    <a:bodyPr/>
                    <a:lstStyle/>
                    <a:p>
                      <a:pPr marR="260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b="1" kern="100" dirty="0">
                          <a:solidFill>
                            <a:srgbClr val="C00000"/>
                          </a:solidFill>
                          <a:effectLst/>
                        </a:rPr>
                        <a:t>Pertenecen al Cap. 3 — Análisis </a:t>
                      </a:r>
                      <a:endParaRPr lang="es-AR" sz="2000" b="1" kern="1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895" marT="3683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94970" marR="36703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b="1" kern="100" dirty="0">
                          <a:solidFill>
                            <a:srgbClr val="C00000"/>
                          </a:solidFill>
                          <a:effectLst/>
                        </a:rPr>
                        <a:t>NO pertenecen al Cap. 3 —  van en conclusiones </a:t>
                      </a:r>
                      <a:endParaRPr lang="es-AR" sz="2000" b="1" kern="1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895" marT="3683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69363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63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¿Los resultados alcanzaron las métricas de éxito definidas en los objetivos? </a:t>
                      </a:r>
                      <a:endParaRPr lang="es-AR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895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        ¿El 	proyecto fue exitoso en 	términos generales? </a:t>
                      </a:r>
                      <a:endParaRPr lang="es-AR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895" marT="36830" marB="0"/>
                </a:tc>
                <a:extLst>
                  <a:ext uri="{0D108BD9-81ED-4DB2-BD59-A6C34878D82A}">
                    <a16:rowId xmlns:a16="http://schemas.microsoft.com/office/drawing/2014/main" val="34607195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63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¿Dónde el sistema funcionó mejor y peor? </a:t>
                      </a:r>
                    </a:p>
                    <a:p>
                      <a:pPr marL="63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¿Qué condiciones explican la diferencia? </a:t>
                      </a:r>
                      <a:endParaRPr lang="es-AR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895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¿Qué aporta este trabajo al campo o a la disciplina? </a:t>
                      </a:r>
                      <a:endParaRPr lang="es-AR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895" marT="36830" marB="0"/>
                </a:tc>
                <a:extLst>
                  <a:ext uri="{0D108BD9-81ED-4DB2-BD59-A6C34878D82A}">
                    <a16:rowId xmlns:a16="http://schemas.microsoft.com/office/drawing/2014/main" val="283355363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marL="63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>
                          <a:effectLst/>
                        </a:rPr>
                        <a:t>¿Los resultados son consistentes entre distintos escenarios? </a:t>
                      </a:r>
                      <a:endParaRPr lang="es-AR" sz="20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895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¿Qué debería hacerse en trabajos futuros? </a:t>
                      </a:r>
                      <a:endParaRPr lang="es-AR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895" marT="36830" marB="0"/>
                </a:tc>
                <a:extLst>
                  <a:ext uri="{0D108BD9-81ED-4DB2-BD59-A6C34878D82A}">
                    <a16:rowId xmlns:a16="http://schemas.microsoft.com/office/drawing/2014/main" val="269581448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63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>
                          <a:effectLst/>
                        </a:rPr>
                        <a:t>¿Qué errores o fallas se identificaron y a qué se atribuyen? </a:t>
                      </a:r>
                      <a:endParaRPr lang="es-AR" sz="20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895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¿Qué se aprendió a lo largo de todo el proceso? </a:t>
                      </a:r>
                      <a:endParaRPr lang="es-AR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895" marT="36830" marB="0"/>
                </a:tc>
                <a:extLst>
                  <a:ext uri="{0D108BD9-81ED-4DB2-BD59-A6C34878D82A}">
                    <a16:rowId xmlns:a16="http://schemas.microsoft.com/office/drawing/2014/main" val="184033352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63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>
                          <a:effectLst/>
                        </a:rPr>
                        <a:t>¿Qué 	limitaciones 	metodológicas 	debe conocer el lector? </a:t>
                      </a:r>
                      <a:endParaRPr lang="es-AR" sz="20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895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¿Cómo se compara este proyecto con el estado del arte en términos de valor? </a:t>
                      </a:r>
                      <a:endParaRPr lang="es-AR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895" marT="36830" marB="0"/>
                </a:tc>
                <a:extLst>
                  <a:ext uri="{0D108BD9-81ED-4DB2-BD59-A6C34878D82A}">
                    <a16:rowId xmlns:a16="http://schemas.microsoft.com/office/drawing/2014/main" val="1786592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150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E68E7C4-3C53-0884-6AF3-39B150662F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109835"/>
              </p:ext>
            </p:extLst>
          </p:nvPr>
        </p:nvGraphicFramePr>
        <p:xfrm>
          <a:off x="436729" y="1178956"/>
          <a:ext cx="11614244" cy="54333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807766">
                  <a:extLst>
                    <a:ext uri="{9D8B030D-6E8A-4147-A177-3AD203B41FA5}">
                      <a16:colId xmlns:a16="http://schemas.microsoft.com/office/drawing/2014/main" val="1370484384"/>
                    </a:ext>
                  </a:extLst>
                </a:gridCol>
                <a:gridCol w="5806478">
                  <a:extLst>
                    <a:ext uri="{9D8B030D-6E8A-4147-A177-3AD203B41FA5}">
                      <a16:colId xmlns:a16="http://schemas.microsoft.com/office/drawing/2014/main" val="955951869"/>
                    </a:ext>
                  </a:extLst>
                </a:gridCol>
              </a:tblGrid>
              <a:tr h="448945"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600" b="1" kern="100" dirty="0">
                          <a:solidFill>
                            <a:srgbClr val="0070C0"/>
                          </a:solidFill>
                          <a:effectLst/>
                        </a:rPr>
                        <a:t>Ejemplos: análisis correcto vs. conclusión prematura </a:t>
                      </a:r>
                      <a:endParaRPr lang="es-AR" sz="2600" b="1" kern="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260" marT="32385" marB="0"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8463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❌  </a:t>
                      </a:r>
                      <a:r>
                        <a:rPr lang="es-AR" sz="2000" b="1" kern="100" dirty="0">
                          <a:effectLst/>
                        </a:rPr>
                        <a:t>INCORRECTO</a:t>
                      </a:r>
                      <a:endParaRPr lang="es-AR" sz="2000" b="1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260" marT="3238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✅  </a:t>
                      </a:r>
                      <a:r>
                        <a:rPr lang="es-AR" sz="2000" b="1" kern="100" dirty="0">
                          <a:effectLst/>
                        </a:rPr>
                        <a:t>CORRECTO </a:t>
                      </a:r>
                      <a:endParaRPr lang="es-AR" sz="2000" b="1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260" marT="32385" marB="0"/>
                </a:tc>
                <a:extLst>
                  <a:ext uri="{0D108BD9-81ED-4DB2-BD59-A6C34878D82A}">
                    <a16:rowId xmlns:a16="http://schemas.microsoft.com/office/drawing/2014/main" val="532287544"/>
                  </a:ext>
                </a:extLst>
              </a:tr>
              <a:tr h="1174750">
                <a:tc>
                  <a:txBody>
                    <a:bodyPr/>
                    <a:lstStyle/>
                    <a:p>
                      <a:pPr marL="635" marR="2984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«El sistema demostró ser superior a las soluciones existentes, lo que confirma la viabilidad de esta arquitectura para aplicaciones reales.» </a:t>
                      </a:r>
                      <a:endParaRPr lang="es-AR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260" marT="32385" marB="0"/>
                </a:tc>
                <a:tc>
                  <a:txBody>
                    <a:bodyPr/>
                    <a:lstStyle/>
                    <a:p>
                      <a:pPr marR="2984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«El sistema procesó 240 imágenes por segundo, un 34% más que el </a:t>
                      </a:r>
                      <a:r>
                        <a:rPr lang="es-AR" sz="2000" kern="100" dirty="0" err="1">
                          <a:effectLst/>
                        </a:rPr>
                        <a:t>baseline</a:t>
                      </a:r>
                      <a:r>
                        <a:rPr lang="es-AR" sz="2000" kern="100" dirty="0">
                          <a:effectLst/>
                        </a:rPr>
                        <a:t> definido. Esta diferencia se mantuvo estable en los tres entornos de prueba.» </a:t>
                      </a:r>
                      <a:endParaRPr lang="es-AR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260" marT="32385" marB="0"/>
                </a:tc>
                <a:extLst>
                  <a:ext uri="{0D108BD9-81ED-4DB2-BD59-A6C34878D82A}">
                    <a16:rowId xmlns:a16="http://schemas.microsoft.com/office/drawing/2014/main" val="4289328242"/>
                  </a:ext>
                </a:extLst>
              </a:tr>
              <a:tr h="1193165">
                <a:tc>
                  <a:txBody>
                    <a:bodyPr/>
                    <a:lstStyle/>
                    <a:p>
                      <a:pPr marL="63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«El modelo alcanzó un F1-score de 0.87 en el conjunto de prueba.» (sin interpretación) </a:t>
                      </a:r>
                      <a:endParaRPr lang="es-AR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260" marT="32385" marB="0"/>
                </a:tc>
                <a:tc>
                  <a:txBody>
                    <a:bodyPr/>
                    <a:lstStyle/>
                    <a:p>
                      <a:pPr marR="2857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«El F1-score de 0.87 indica que el modelo balancea correctamente precisión y </a:t>
                      </a:r>
                      <a:r>
                        <a:rPr lang="es-AR" sz="2000" kern="100" dirty="0" err="1">
                          <a:effectLst/>
                        </a:rPr>
                        <a:t>recall</a:t>
                      </a:r>
                      <a:r>
                        <a:rPr lang="es-AR" sz="2000" kern="100" dirty="0">
                          <a:effectLst/>
                        </a:rPr>
                        <a:t>. La clase minoritaria obtuvo 0.81, lo que sugiere que el </a:t>
                      </a:r>
                      <a:r>
                        <a:rPr lang="es-AR" sz="2000" kern="100" dirty="0" err="1">
                          <a:effectLst/>
                        </a:rPr>
                        <a:t>oversampling</a:t>
                      </a:r>
                      <a:r>
                        <a:rPr lang="es-AR" sz="2000" kern="100" dirty="0">
                          <a:effectLst/>
                        </a:rPr>
                        <a:t> aplicado fue efectivo aunque no completo.» </a:t>
                      </a:r>
                      <a:endParaRPr lang="es-AR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260" marT="32385" marB="0"/>
                </a:tc>
                <a:extLst>
                  <a:ext uri="{0D108BD9-81ED-4DB2-BD59-A6C34878D82A}">
                    <a16:rowId xmlns:a16="http://schemas.microsoft.com/office/drawing/2014/main" val="4108410394"/>
                  </a:ext>
                </a:extLst>
              </a:tr>
              <a:tr h="1134110">
                <a:tc>
                  <a:txBody>
                    <a:bodyPr/>
                    <a:lstStyle/>
                    <a:p>
                      <a:pPr marL="635" marR="2921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«En futuras iteraciones se debería incorporar un </a:t>
                      </a:r>
                      <a:r>
                        <a:rPr lang="es-AR" sz="2000" kern="100" dirty="0" err="1">
                          <a:effectLst/>
                        </a:rPr>
                        <a:t>dataset</a:t>
                      </a:r>
                      <a:r>
                        <a:rPr lang="es-AR" sz="2000" kern="100" dirty="0">
                          <a:effectLst/>
                        </a:rPr>
                        <a:t> más amplio y explorar arquitecturas </a:t>
                      </a:r>
                      <a:r>
                        <a:rPr lang="es-AR" sz="2000" kern="100" dirty="0" err="1">
                          <a:effectLst/>
                        </a:rPr>
                        <a:t>transformer</a:t>
                      </a:r>
                      <a:r>
                        <a:rPr lang="es-AR" sz="2000" kern="100" dirty="0">
                          <a:effectLst/>
                        </a:rPr>
                        <a:t>.» (va en conclusiones) </a:t>
                      </a:r>
                      <a:endParaRPr lang="es-AR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260" marT="323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«El análisis se realizó sobre 1.200 muestras. </a:t>
                      </a:r>
                    </a:p>
                    <a:p>
                      <a:pPr marR="2857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kern="100" dirty="0">
                          <a:effectLst/>
                        </a:rPr>
                        <a:t>No es posible determinar si el comportamiento observado se mantiene con volúmenes mayores, lo cual constituye una limitación del presente análisis.» </a:t>
                      </a:r>
                      <a:endParaRPr lang="es-AR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48260" marT="32385" marB="0"/>
                </a:tc>
                <a:extLst>
                  <a:ext uri="{0D108BD9-81ED-4DB2-BD59-A6C34878D82A}">
                    <a16:rowId xmlns:a16="http://schemas.microsoft.com/office/drawing/2014/main" val="876161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273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DCB68C3-8D89-6047-65BC-DA7921606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236753"/>
              </p:ext>
            </p:extLst>
          </p:nvPr>
        </p:nvGraphicFramePr>
        <p:xfrm>
          <a:off x="464024" y="429601"/>
          <a:ext cx="11068334" cy="511377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65020">
                  <a:extLst>
                    <a:ext uri="{9D8B030D-6E8A-4147-A177-3AD203B41FA5}">
                      <a16:colId xmlns:a16="http://schemas.microsoft.com/office/drawing/2014/main" val="1147883806"/>
                    </a:ext>
                  </a:extLst>
                </a:gridCol>
                <a:gridCol w="8303314">
                  <a:extLst>
                    <a:ext uri="{9D8B030D-6E8A-4147-A177-3AD203B41FA5}">
                      <a16:colId xmlns:a16="http://schemas.microsoft.com/office/drawing/2014/main" val="504259014"/>
                    </a:ext>
                  </a:extLst>
                </a:gridCol>
              </a:tblGrid>
              <a:tr h="333414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b="1" kern="1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</a:p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2000" b="1" kern="100" dirty="0">
                          <a:solidFill>
                            <a:srgbClr val="0070C0"/>
                          </a:solidFill>
                          <a:effectLst/>
                        </a:rPr>
                        <a:t>La tabla espejo: del resultado a la conclusión </a:t>
                      </a:r>
                      <a:endParaRPr lang="es-AR" sz="2000" b="1" kern="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47804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412430"/>
                  </a:ext>
                </a:extLst>
              </a:tr>
              <a:tr h="226044">
                <a:tc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kern="100" dirty="0">
                          <a:solidFill>
                            <a:srgbClr val="0070C0"/>
                          </a:solidFill>
                          <a:effectLst/>
                        </a:rPr>
                        <a:t>Si en el Cap. 3 se dijo... </a:t>
                      </a:r>
                      <a:endParaRPr lang="es-AR" sz="1800" b="1" kern="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5348" marR="35319" marT="24017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kern="100" dirty="0">
                          <a:solidFill>
                            <a:srgbClr val="0070C0"/>
                          </a:solidFill>
                          <a:effectLst/>
                        </a:rPr>
                        <a:t>En las conclusiones se </a:t>
                      </a:r>
                      <a:r>
                        <a:rPr lang="es-AR" sz="1800" b="1" kern="100" dirty="0" err="1">
                          <a:solidFill>
                            <a:srgbClr val="0070C0"/>
                          </a:solidFill>
                          <a:effectLst/>
                        </a:rPr>
                        <a:t>driá</a:t>
                      </a:r>
                      <a:r>
                        <a:rPr lang="es-AR" sz="1800" b="1" kern="100" dirty="0">
                          <a:solidFill>
                            <a:srgbClr val="0070C0"/>
                          </a:solidFill>
                          <a:effectLst/>
                        </a:rPr>
                        <a:t>...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kern="100" dirty="0">
                          <a:solidFill>
                            <a:srgbClr val="0070C0"/>
                          </a:solidFill>
                          <a:effectLst/>
                        </a:rPr>
                        <a:t> </a:t>
                      </a:r>
                      <a:endParaRPr lang="es-AR" sz="1800" b="1" kern="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348" marR="35319" marT="24017" marB="0"/>
                </a:tc>
                <a:extLst>
                  <a:ext uri="{0D108BD9-81ED-4DB2-BD59-A6C34878D82A}">
                    <a16:rowId xmlns:a16="http://schemas.microsoft.com/office/drawing/2014/main" val="1858030334"/>
                  </a:ext>
                </a:extLst>
              </a:tr>
              <a:tr h="743306">
                <a:tc>
                  <a:txBody>
                    <a:bodyPr/>
                    <a:lstStyle/>
                    <a:p>
                      <a:pPr marL="63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>
                          <a:effectLst/>
                        </a:rPr>
                        <a:t>«La latencia promedio fue de 120 ms, dentro del umbral definido.» </a:t>
                      </a:r>
                      <a:endParaRPr lang="es-AR" sz="18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5348" marR="35319" marT="24017" marB="0"/>
                </a:tc>
                <a:tc>
                  <a:txBody>
                    <a:bodyPr/>
                    <a:lstStyle/>
                    <a:p>
                      <a:pPr marR="3048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«El sistema cumple los requisitos de tiempo real para el caso de uso definido, lo que valida la arquitectura elegida como punto de partida escalable.»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 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348" marR="35319" marT="24017" marB="0"/>
                </a:tc>
                <a:extLst>
                  <a:ext uri="{0D108BD9-81ED-4DB2-BD59-A6C34878D82A}">
                    <a16:rowId xmlns:a16="http://schemas.microsoft.com/office/drawing/2014/main" val="1346549181"/>
                  </a:ext>
                </a:extLst>
              </a:tr>
              <a:tr h="861979">
                <a:tc>
                  <a:txBody>
                    <a:bodyPr/>
                    <a:lstStyle/>
                    <a:p>
                      <a:pPr marL="63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>
                          <a:effectLst/>
                        </a:rPr>
                        <a:t>«El módulo de detección falló en condiciones de baja iluminación.» </a:t>
                      </a:r>
                      <a:endParaRPr lang="es-AR" sz="18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5348" marR="35319" marT="24017" marB="0"/>
                </a:tc>
                <a:tc>
                  <a:txBody>
                    <a:bodyPr/>
                    <a:lstStyle/>
                    <a:p>
                      <a:pPr marR="28575"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«La robustez ante condiciones adversas constituye la principal limitación del trabajo y define la dirección prioritaria para iteraciones futuras.»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 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348" marR="35319" marT="24017" marB="0"/>
                </a:tc>
                <a:extLst>
                  <a:ext uri="{0D108BD9-81ED-4DB2-BD59-A6C34878D82A}">
                    <a16:rowId xmlns:a16="http://schemas.microsoft.com/office/drawing/2014/main" val="4092169485"/>
                  </a:ext>
                </a:extLst>
              </a:tr>
              <a:tr h="861979">
                <a:tc>
                  <a:txBody>
                    <a:bodyPr/>
                    <a:lstStyle/>
                    <a:p>
                      <a:pPr marL="63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>
                          <a:effectLst/>
                        </a:rPr>
                        <a:t>«Los usuarios completaron el 85% de las tareas en el test de usabilidad.» </a:t>
                      </a:r>
                      <a:endParaRPr lang="es-AR" sz="18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5348" marR="35319" marT="24017" marB="0"/>
                </a:tc>
                <a:tc>
                  <a:txBody>
                    <a:bodyPr/>
                    <a:lstStyle/>
                    <a:p>
                      <a:pPr marR="29210"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«La interfaz alcanzó un nivel de usabilidad satisfactorio para usuarios sin experiencia previa, lo que confirma que el enfoque centrado en el usuario fue efectivo.»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 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348" marR="35319" marT="24017" marB="0"/>
                </a:tc>
                <a:extLst>
                  <a:ext uri="{0D108BD9-81ED-4DB2-BD59-A6C34878D82A}">
                    <a16:rowId xmlns:a16="http://schemas.microsoft.com/office/drawing/2014/main" val="3958603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244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D11E921-A930-F972-0E93-D5F3CA126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757073"/>
              </p:ext>
            </p:extLst>
          </p:nvPr>
        </p:nvGraphicFramePr>
        <p:xfrm>
          <a:off x="341194" y="947889"/>
          <a:ext cx="11723429" cy="517508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832237">
                  <a:extLst>
                    <a:ext uri="{9D8B030D-6E8A-4147-A177-3AD203B41FA5}">
                      <a16:colId xmlns:a16="http://schemas.microsoft.com/office/drawing/2014/main" val="2293462376"/>
                    </a:ext>
                  </a:extLst>
                </a:gridCol>
                <a:gridCol w="1778823">
                  <a:extLst>
                    <a:ext uri="{9D8B030D-6E8A-4147-A177-3AD203B41FA5}">
                      <a16:colId xmlns:a16="http://schemas.microsoft.com/office/drawing/2014/main" val="4040360856"/>
                    </a:ext>
                  </a:extLst>
                </a:gridCol>
                <a:gridCol w="2592879">
                  <a:extLst>
                    <a:ext uri="{9D8B030D-6E8A-4147-A177-3AD203B41FA5}">
                      <a16:colId xmlns:a16="http://schemas.microsoft.com/office/drawing/2014/main" val="4117234006"/>
                    </a:ext>
                  </a:extLst>
                </a:gridCol>
                <a:gridCol w="2519490">
                  <a:extLst>
                    <a:ext uri="{9D8B030D-6E8A-4147-A177-3AD203B41FA5}">
                      <a16:colId xmlns:a16="http://schemas.microsoft.com/office/drawing/2014/main" val="3669064616"/>
                    </a:ext>
                  </a:extLst>
                </a:gridCol>
              </a:tblGrid>
              <a:tr h="163967">
                <a:tc>
                  <a:txBody>
                    <a:bodyPr/>
                    <a:lstStyle/>
                    <a:p>
                      <a:pPr marR="260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kern="100" dirty="0">
                          <a:solidFill>
                            <a:srgbClr val="0070C0"/>
                          </a:solidFill>
                          <a:effectLst/>
                        </a:rPr>
                        <a:t>Tipo de contenido </a:t>
                      </a:r>
                      <a:endParaRPr lang="es-AR" sz="1800" b="1" kern="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kern="100" dirty="0">
                          <a:solidFill>
                            <a:srgbClr val="0070C0"/>
                          </a:solidFill>
                          <a:effectLst/>
                        </a:rPr>
                        <a:t>Marco </a:t>
                      </a:r>
                      <a:r>
                        <a:rPr lang="es-AR" sz="1800" b="1" kern="100" dirty="0" err="1">
                          <a:solidFill>
                            <a:srgbClr val="0070C0"/>
                          </a:solidFill>
                          <a:effectLst/>
                        </a:rPr>
                        <a:t>Metodol</a:t>
                      </a:r>
                      <a:r>
                        <a:rPr lang="es-AR" sz="1800" b="1" kern="100" dirty="0">
                          <a:solidFill>
                            <a:srgbClr val="0070C0"/>
                          </a:solidFill>
                          <a:effectLst/>
                        </a:rPr>
                        <a:t>. </a:t>
                      </a:r>
                      <a:endParaRPr lang="es-AR" sz="1800" b="1" kern="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kern="100" dirty="0">
                          <a:solidFill>
                            <a:srgbClr val="0070C0"/>
                          </a:solidFill>
                          <a:effectLst/>
                        </a:rPr>
                        <a:t>Análisis de Resultados</a:t>
                      </a:r>
                      <a:endParaRPr lang="es-AR" sz="1800" b="1" kern="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b="1" kern="100" dirty="0">
                          <a:solidFill>
                            <a:srgbClr val="0070C0"/>
                          </a:solidFill>
                          <a:effectLst/>
                        </a:rPr>
                        <a:t>Conclusiones </a:t>
                      </a:r>
                      <a:endParaRPr lang="es-AR" sz="1800" b="1" kern="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25583"/>
                  </a:ext>
                </a:extLst>
              </a:tr>
              <a:tr h="286942">
                <a:tc>
                  <a:txBody>
                    <a:bodyPr/>
                    <a:lstStyle/>
                    <a:p>
                      <a:pPr marL="63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Metodología adoptada y su justificación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✅ Sí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extLst>
                  <a:ext uri="{0D108BD9-81ED-4DB2-BD59-A6C34878D82A}">
                    <a16:rowId xmlns:a16="http://schemas.microsoft.com/office/drawing/2014/main" val="2135322094"/>
                  </a:ext>
                </a:extLst>
              </a:tr>
              <a:tr h="411283">
                <a:tc>
                  <a:txBody>
                    <a:bodyPr/>
                    <a:lstStyle/>
                    <a:p>
                      <a:pPr marL="635" marR="27305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Adaptaciones de la metodología al contexto académico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✅ Sí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extLst>
                  <a:ext uri="{0D108BD9-81ED-4DB2-BD59-A6C34878D82A}">
                    <a16:rowId xmlns:a16="http://schemas.microsoft.com/office/drawing/2014/main" val="4267885528"/>
                  </a:ext>
                </a:extLst>
              </a:tr>
              <a:tr h="2749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00"/>
                        </a:spcAft>
                        <a:tabLst>
                          <a:tab pos="1161415" algn="ctr"/>
                          <a:tab pos="1882140" algn="r"/>
                        </a:tabLst>
                      </a:pPr>
                      <a:r>
                        <a:rPr lang="es-AR" sz="1800" kern="100" dirty="0">
                          <a:effectLst/>
                        </a:rPr>
                        <a:t>Decisiones 	técnicas con justificación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✅ Sí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extLst>
                  <a:ext uri="{0D108BD9-81ED-4DB2-BD59-A6C34878D82A}">
                    <a16:rowId xmlns:a16="http://schemas.microsoft.com/office/drawing/2014/main" val="1595173923"/>
                  </a:ext>
                </a:extLst>
              </a:tr>
              <a:tr h="295823">
                <a:tc>
                  <a:txBody>
                    <a:bodyPr/>
                    <a:lstStyle/>
                    <a:p>
                      <a:pPr marL="63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>
                          <a:effectLst/>
                        </a:rPr>
                        <a:t>Diagramas de arquitectura y diseño </a:t>
                      </a:r>
                      <a:endParaRPr lang="es-AR" sz="18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✅ Sí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>
                          <a:effectLst/>
                        </a:rPr>
                        <a:t>— </a:t>
                      </a:r>
                      <a:endParaRPr lang="es-AR" sz="18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>
                          <a:effectLst/>
                        </a:rPr>
                        <a:t>— </a:t>
                      </a:r>
                      <a:endParaRPr lang="es-AR" sz="18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extLst>
                  <a:ext uri="{0D108BD9-81ED-4DB2-BD59-A6C34878D82A}">
                    <a16:rowId xmlns:a16="http://schemas.microsoft.com/office/drawing/2014/main" val="428578790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marL="63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>
                          <a:effectLst/>
                        </a:rPr>
                        <a:t>Referencias bibliográficas y técnicas </a:t>
                      </a:r>
                      <a:endParaRPr lang="es-AR" sz="18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>
                          <a:effectLst/>
                        </a:rPr>
                        <a:t>✅ Sí </a:t>
                      </a:r>
                      <a:endParaRPr lang="es-AR" sz="18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>
                          <a:effectLst/>
                        </a:rPr>
                        <a:t>— </a:t>
                      </a:r>
                      <a:endParaRPr lang="es-AR" sz="18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extLst>
                  <a:ext uri="{0D108BD9-81ED-4DB2-BD59-A6C34878D82A}">
                    <a16:rowId xmlns:a16="http://schemas.microsoft.com/office/drawing/2014/main" val="3214037586"/>
                  </a:ext>
                </a:extLst>
              </a:tr>
              <a:tr h="193003">
                <a:tc>
                  <a:txBody>
                    <a:bodyPr/>
                    <a:lstStyle/>
                    <a:p>
                      <a:pPr marL="63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>
                          <a:effectLst/>
                        </a:rPr>
                        <a:t>Métricas y datos crudos </a:t>
                      </a:r>
                      <a:endParaRPr lang="es-AR" sz="18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✅ Sí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 anchor="ctr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>
                          <a:effectLst/>
                        </a:rPr>
                        <a:t>— </a:t>
                      </a:r>
                      <a:endParaRPr lang="es-AR" sz="18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extLst>
                  <a:ext uri="{0D108BD9-81ED-4DB2-BD59-A6C34878D82A}">
                    <a16:rowId xmlns:a16="http://schemas.microsoft.com/office/drawing/2014/main" val="4150817009"/>
                  </a:ext>
                </a:extLst>
              </a:tr>
              <a:tr h="433897">
                <a:tc>
                  <a:txBody>
                    <a:bodyPr/>
                    <a:lstStyle/>
                    <a:p>
                      <a:pPr marL="63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Interpretación de 	métricas vinculada a objetivos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✅ Sí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extLst>
                  <a:ext uri="{0D108BD9-81ED-4DB2-BD59-A6C34878D82A}">
                    <a16:rowId xmlns:a16="http://schemas.microsoft.com/office/drawing/2014/main" val="2628591611"/>
                  </a:ext>
                </a:extLst>
              </a:tr>
              <a:tr h="328617">
                <a:tc>
                  <a:txBody>
                    <a:bodyPr/>
                    <a:lstStyle/>
                    <a:p>
                      <a:pPr marL="63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Discrepancias o fallas observadas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✅ Sí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extLst>
                  <a:ext uri="{0D108BD9-81ED-4DB2-BD59-A6C34878D82A}">
                    <a16:rowId xmlns:a16="http://schemas.microsoft.com/office/drawing/2014/main" val="3244347389"/>
                  </a:ext>
                </a:extLst>
              </a:tr>
              <a:tr h="328617">
                <a:tc>
                  <a:txBody>
                    <a:bodyPr/>
                    <a:lstStyle/>
                    <a:p>
                      <a:pPr marL="63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Limitaciones del análisis específico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✅ Sí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extLst>
                  <a:ext uri="{0D108BD9-81ED-4DB2-BD59-A6C34878D82A}">
                    <a16:rowId xmlns:a16="http://schemas.microsoft.com/office/drawing/2014/main" val="4164486786"/>
                  </a:ext>
                </a:extLst>
              </a:tr>
              <a:tr h="328617">
                <a:tc>
                  <a:txBody>
                    <a:bodyPr/>
                    <a:lstStyle/>
                    <a:p>
                      <a:pPr marL="63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Limitaciones del trabajo completo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✅ Sí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extLst>
                  <a:ext uri="{0D108BD9-81ED-4DB2-BD59-A6C34878D82A}">
                    <a16:rowId xmlns:a16="http://schemas.microsoft.com/office/drawing/2014/main" val="179587550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"/>
                        </a:spcAft>
                        <a:tabLst>
                          <a:tab pos="1167765" algn="ctr"/>
                          <a:tab pos="1882140" algn="r"/>
                        </a:tabLst>
                      </a:pPr>
                      <a:r>
                        <a:rPr lang="es-AR" sz="1800" kern="100" dirty="0">
                          <a:effectLst/>
                        </a:rPr>
                        <a:t>Valoración 	global 	del proyecto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✅ Sí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extLst>
                  <a:ext uri="{0D108BD9-81ED-4DB2-BD59-A6C34878D82A}">
                    <a16:rowId xmlns:a16="http://schemas.microsoft.com/office/drawing/2014/main" val="2614588732"/>
                  </a:ext>
                </a:extLst>
              </a:tr>
              <a:tr h="193003">
                <a:tc>
                  <a:txBody>
                    <a:bodyPr/>
                    <a:lstStyle/>
                    <a:p>
                      <a:pPr marL="63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>
                          <a:effectLst/>
                        </a:rPr>
                        <a:t>Aporte al campo o disciplina </a:t>
                      </a:r>
                      <a:endParaRPr lang="es-AR" sz="18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>
                          <a:effectLst/>
                        </a:rPr>
                        <a:t>— </a:t>
                      </a:r>
                      <a:endParaRPr lang="es-AR" sz="18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✅ Sí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 anchor="ctr"/>
                </a:tc>
                <a:extLst>
                  <a:ext uri="{0D108BD9-81ED-4DB2-BD59-A6C34878D82A}">
                    <a16:rowId xmlns:a16="http://schemas.microsoft.com/office/drawing/2014/main" val="632592988"/>
                  </a:ext>
                </a:extLst>
              </a:tr>
              <a:tr h="2753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10"/>
                        </a:spcAft>
                        <a:tabLst>
                          <a:tab pos="1136015" algn="ctr"/>
                          <a:tab pos="1882140" algn="r"/>
                        </a:tabLst>
                      </a:pPr>
                      <a:r>
                        <a:rPr lang="es-AR" sz="1800" kern="100" dirty="0">
                          <a:effectLst/>
                        </a:rPr>
                        <a:t>Trabajo 	futuro / recomendaciones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❌ Nunca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✅ Solo aquí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extLst>
                  <a:ext uri="{0D108BD9-81ED-4DB2-BD59-A6C34878D82A}">
                    <a16:rowId xmlns:a16="http://schemas.microsoft.com/office/drawing/2014/main" val="3102741491"/>
                  </a:ext>
                </a:extLst>
              </a:tr>
              <a:tr h="285234">
                <a:tc>
                  <a:txBody>
                    <a:bodyPr/>
                    <a:lstStyle/>
                    <a:p>
                      <a:pPr marL="63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>
                          <a:effectLst/>
                        </a:rPr>
                        <a:t>Respuesta a la pregunta de investigación </a:t>
                      </a:r>
                      <a:endParaRPr lang="es-AR" sz="18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—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AR" sz="1800" kern="100" dirty="0">
                          <a:effectLst/>
                        </a:rPr>
                        <a:t>✅ Sí </a:t>
                      </a:r>
                      <a:endParaRPr lang="es-AR" sz="18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4656" marR="26303" marT="17421" marB="0"/>
                </a:tc>
                <a:extLst>
                  <a:ext uri="{0D108BD9-81ED-4DB2-BD59-A6C34878D82A}">
                    <a16:rowId xmlns:a16="http://schemas.microsoft.com/office/drawing/2014/main" val="3419878319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F05EDF42-29F2-68AA-9ABB-AF8D4B108B9D}"/>
              </a:ext>
            </a:extLst>
          </p:cNvPr>
          <p:cNvSpPr txBox="1"/>
          <p:nvPr/>
        </p:nvSpPr>
        <p:spPr>
          <a:xfrm>
            <a:off x="641445" y="232012"/>
            <a:ext cx="1065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LA TABLA ESPEJO: ¿QUÉ CORRESPONDE AL MARCO METODOLÓGICO Y AL ANÁLISI DE RESULTADO?</a:t>
            </a:r>
          </a:p>
        </p:txBody>
      </p:sp>
    </p:spTree>
    <p:extLst>
      <p:ext uri="{BB962C8B-B14F-4D97-AF65-F5344CB8AC3E}">
        <p14:creationId xmlns:p14="http://schemas.microsoft.com/office/powerpoint/2010/main" val="2075172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1960</Words>
  <Application>Microsoft Office PowerPoint</Application>
  <PresentationFormat>Panorámica</PresentationFormat>
  <Paragraphs>229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Book Antiqua</vt:lpstr>
      <vt:lpstr>Calibri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de Mendoza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Ruth Leiton</dc:creator>
  <cp:lastModifiedBy>Ruth Leiton</cp:lastModifiedBy>
  <cp:revision>5</cp:revision>
  <dcterms:created xsi:type="dcterms:W3CDTF">2026-05-18T20:53:14Z</dcterms:created>
  <dcterms:modified xsi:type="dcterms:W3CDTF">2026-05-18T22:10:13Z</dcterms:modified>
</cp:coreProperties>
</file>