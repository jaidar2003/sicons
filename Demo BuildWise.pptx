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Poppins SemiBold" panose="020B0502040204020203" pitchFamily="2" charset="0"/>
      <p:regular r:id="rId13"/>
      <p:bold r:id="rId14"/>
      <p:italic r:id="rId15"/>
      <p:boldItalic r:id="rId16"/>
    </p:embeddedFon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2afbe256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f2afbe256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12f5bd8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f012f5bd8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012f5bd8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f012f5bd8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95475" y="3290887"/>
            <a:ext cx="8401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Soporte a la Decisión para la Compra de Materiales de Obra</a:t>
            </a:r>
            <a:endParaRPr sz="1950" b="0" i="0" u="none" strike="noStrike" cap="non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 b="1" i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895475" y="4414837"/>
            <a:ext cx="840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Juan Manuel Aidar </a:t>
            </a:r>
            <a:endParaRPr sz="13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Trabajo de Integración Final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3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/>
          </a:p>
        </p:txBody>
      </p:sp>
      <p:pic>
        <p:nvPicPr>
          <p:cNvPr id="86" name="Google Shape;86;p13" title="bw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187" y="1174777"/>
            <a:ext cx="5617626" cy="18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769550" y="5379425"/>
            <a:ext cx="26529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 i="1">
                <a:solidFill>
                  <a:srgbClr val="0046AF"/>
                </a:solidFill>
                <a:latin typeface="Inter"/>
                <a:ea typeface="Inter"/>
                <a:cs typeface="Inter"/>
                <a:sym typeface="Inter"/>
              </a:rPr>
              <a:t>https://buildwise.com.ar/</a:t>
            </a:r>
            <a:endParaRPr sz="1200" b="1" i="1">
              <a:solidFill>
                <a:srgbClr val="0046A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 title="LOGO - FACULTAD DE  INGENIERÍA - U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50" y="267750"/>
            <a:ext cx="1022377" cy="1022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81025" y="1828800"/>
            <a:ext cx="5490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0046A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Darío 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2343150"/>
            <a:ext cx="5229300" cy="29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Darío logró ahorrar durante años para ampliar su oficina o refaccionar su casa.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 al corralón con un presupuesto, pero pocos días después descubre que sus ahorros ya no alcanzan para lo que había planificado.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un contexto de alta volatilidad y dispersión de precios, un mismo material puede cambiar de valor rápidamente o costar muy distinto entre comercios cercanos.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verdadero problema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no saber si conviene comprar ahora, esperar o priorizar otros materiales, con el riesgo de gastar mal sus ahorros o quedarse sin liquidez antes de terminar la obra.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59875" y="614175"/>
            <a:ext cx="11146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09575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"/>
              <a:buFont typeface="Calibri"/>
              <a:buAutoNum type="arabicPeriod"/>
            </a:pPr>
            <a:r>
              <a:rPr lang="en-US" sz="285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 incertidumbre de construir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81025" y="581025"/>
            <a:ext cx="76200" cy="504900"/>
          </a:xfrm>
          <a:prstGeom prst="rect">
            <a:avLst/>
          </a:prstGeom>
          <a:solidFill>
            <a:srgbClr val="0046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1245" y="1857375"/>
            <a:ext cx="4730204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266825"/>
            <a:ext cx="35242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1266825"/>
            <a:ext cx="35242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6725" y="1266825"/>
            <a:ext cx="35242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590550" y="2533650"/>
            <a:ext cx="3505200" cy="38100"/>
          </a:xfrm>
          <a:prstGeom prst="rect">
            <a:avLst/>
          </a:prstGeom>
          <a:solidFill>
            <a:srgbClr val="0B41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1562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76300" y="2228850"/>
            <a:ext cx="3080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predictivo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2628900"/>
            <a:ext cx="29337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Forecasting de precios mediante series temporales y detección de valores anómalos respecto del comportamiento esperado del mercado.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343400" y="2533650"/>
            <a:ext cx="3505200" cy="38100"/>
          </a:xfrm>
          <a:prstGeom prst="rect">
            <a:avLst/>
          </a:prstGeom>
          <a:solidFill>
            <a:srgbClr val="E52E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29150" y="1562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629150" y="2228850"/>
            <a:ext cx="3080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Optimización de presupuesto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29150" y="2628900"/>
            <a:ext cx="29337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Modelos de programación lineal que distribuyen el capital disponible según las cantidades necesarias y la criticidad estructural de los materiales.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8096250" y="2533650"/>
            <a:ext cx="3505200" cy="38100"/>
          </a:xfrm>
          <a:prstGeom prst="rect">
            <a:avLst/>
          </a:prstGeom>
          <a:solidFill>
            <a:srgbClr val="0B41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2000" y="1562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382000" y="2228850"/>
            <a:ext cx="3080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Asistente conversacional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82000" y="2628900"/>
            <a:ext cx="29337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Interfaz de procesamiento de lenguaje natural que interpreta consultas sencillas y explica detalladamente los resultados calculados por el backend.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16954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0" y="169545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86775" y="169545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23900" y="485775"/>
            <a:ext cx="1143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2. </a:t>
            </a:r>
            <a:r>
              <a:rPr lang="en-US" sz="2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Solución: Soporte a la Decisión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90550" y="485775"/>
            <a:ext cx="76200" cy="504900"/>
          </a:xfrm>
          <a:prstGeom prst="rect">
            <a:avLst/>
          </a:prstGeom>
          <a:solidFill>
            <a:srgbClr val="0046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80950" y="5092512"/>
            <a:ext cx="11030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>
                <a:solidFill>
                  <a:srgbClr val="0046AF"/>
                </a:solidFill>
                <a:latin typeface="Inter"/>
                <a:ea typeface="Inter"/>
                <a:cs typeface="Inter"/>
                <a:sym typeface="Inter"/>
              </a:rPr>
              <a:t>“Una herramienta que transforma datos de precios en recomendaciones de compra trazables.”</a:t>
            </a:r>
            <a:endParaRPr sz="1700" b="1">
              <a:solidFill>
                <a:srgbClr val="0046AF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046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810600" y="419100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3. Arquitectura de Componentes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20100" y="419100"/>
            <a:ext cx="76200" cy="457200"/>
          </a:xfrm>
          <a:prstGeom prst="rect">
            <a:avLst/>
          </a:prstGeom>
          <a:solidFill>
            <a:srgbClr val="0046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 title="ChatGPT Image Jun 28, 2026, 03_43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010100"/>
            <a:ext cx="8064202" cy="56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2258" y="3090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3404" y="3090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24550" y="3090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5695" y="3090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46841" y="30908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71525" y="2014537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4. User Journey: El Flujo de la Demo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81025" y="2014537"/>
            <a:ext cx="76200" cy="457200"/>
          </a:xfrm>
          <a:prstGeom prst="rect">
            <a:avLst/>
          </a:prstGeom>
          <a:solidFill>
            <a:srgbClr val="0046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494601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46AF"/>
                </a:solidFill>
                <a:latin typeface="Inter"/>
                <a:ea typeface="Inter"/>
                <a:cs typeface="Inter"/>
                <a:sym typeface="Inter"/>
              </a:rPr>
              <a:t>Desacoplamiento estricto: La IA explica de forma simple lo que el Backend calcula de forma exacta.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3600450"/>
            <a:ext cx="11029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81025" y="3529012"/>
            <a:ext cx="198536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Consulta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3757589"/>
            <a:ext cx="19854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Necesito comprar 30 bolsas de cemento de aca a 6 meses, me conviene comprarlas ahora o esperar? tengo </a:t>
            </a: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 mil</a:t>
            </a: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pesos de presupuesto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2842170" y="3529012"/>
            <a:ext cx="198536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Procesamiento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842170" y="3757612"/>
            <a:ext cx="19853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RAG mapea intenciones y extrae las entidades.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103316" y="3529012"/>
            <a:ext cx="198536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103316" y="3757612"/>
            <a:ext cx="19853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FastAPI calcula el forecast y detecta anomalías.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364462" y="3529012"/>
            <a:ext cx="198536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Resolución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364462" y="3757612"/>
            <a:ext cx="19853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PuLP optimiza el dinero según criticidad.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25607" y="3529012"/>
            <a:ext cx="198536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625607" y="3757612"/>
            <a:ext cx="198536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Respuesta final: Explicación + Sugerencia de compra.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170658"/>
            <a:ext cx="5438775" cy="9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2170658"/>
            <a:ext cx="5438775" cy="9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72581"/>
            <a:ext cx="5438775" cy="9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3272581"/>
            <a:ext cx="5438775" cy="9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74505"/>
            <a:ext cx="11029950" cy="77003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11553825" y="6257925"/>
            <a:ext cx="57300" cy="57300"/>
          </a:xfrm>
          <a:prstGeom prst="roundRect">
            <a:avLst>
              <a:gd name="adj" fmla="val 50000"/>
            </a:avLst>
          </a:prstGeom>
          <a:solidFill>
            <a:srgbClr val="E52E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2435869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72225" y="2435869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050" y="353779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72225" y="353779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4549973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4875" y="2569219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352550" y="2332583"/>
            <a:ext cx="46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Geolocalización y costos logísticos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352550" y="2599283"/>
            <a:ext cx="4467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Incorporar distancia, zona de entrega y costo estimado de flete para calcular el costo total real de adquisición.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86525" y="2569219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943725" y="2332583"/>
            <a:ext cx="46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Ingesta automatizada de precios externos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943725" y="2599283"/>
            <a:ext cx="4467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Evaluar scrapers o integraciones formales con listas de precios, preservando fuente, fecha y confiabilidad del dato.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4875" y="3671143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352550" y="3434506"/>
            <a:ext cx="46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Soporte multiobra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52550" y="3701206"/>
            <a:ext cx="4467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Permitir gestionar varias obras en paralelo, con presupuestos, prioridades y restricciones independientes.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86525" y="3671143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6943725" y="3434506"/>
            <a:ext cx="46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Evolución multi-tenant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943725" y="3701206"/>
            <a:ext cx="44673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Adaptar la plataforma para múltiples empresas, manteniendo aislamiento de usuarios, catálogos, precios y configuraciones.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14400" y="468332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352550" y="4536430"/>
            <a:ext cx="1056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B41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Calibración continua de modelos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352550" y="4803130"/>
            <a:ext cx="10058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Reentrenar y comparar variantes de forecasting a medida que ingresen nuevos datos históricos para optimizar la precisión de las predicciones.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42513" y="1530562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6. Próximos Pasos / Evolución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581025" y="1519237"/>
            <a:ext cx="76200" cy="457200"/>
          </a:xfrm>
          <a:prstGeom prst="rect">
            <a:avLst/>
          </a:prstGeom>
          <a:solidFill>
            <a:srgbClr val="0046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Widescreen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Poppins SemiBold</vt:lpstr>
      <vt:lpstr>Space Grotesk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Juanma Aidar</dc:creator>
  <cp:lastModifiedBy>Juan Manuel Aidar</cp:lastModifiedBy>
  <cp:revision>1</cp:revision>
  <dcterms:modified xsi:type="dcterms:W3CDTF">2026-06-30T20:35:54Z</dcterms:modified>
</cp:coreProperties>
</file>